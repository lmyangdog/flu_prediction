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tr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6160"/>
            <a:ext cx="12191999" cy="205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32120"/>
            <a:ext cx="12191999" cy="1325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5212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0A5D60"/>
                </a:solidFill>
                <a:latin typeface="Microsoft YaHei"/>
              </a:rPr>
              <a:t>基于深度学习和多元数据的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35024"/>
            <a:ext cx="5943600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4300" b="1">
                <a:solidFill>
                  <a:srgbClr val="111827"/>
                </a:solidFill>
                <a:latin typeface="Microsoft YaHei"/>
              </a:rPr>
              <a:t>流感爆发趋势预测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4672" y="2176272"/>
            <a:ext cx="2624328" cy="0"/>
          </a:xfrm>
          <a:prstGeom prst="line">
            <a:avLst/>
          </a:prstGeom>
          <a:ln w="38100">
            <a:solidFill>
              <a:srgbClr val="E85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2468880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5B6472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58521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Microsoft YaHei"/>
              </a:rPr>
              <a:t>国家流感中心北方省份周度 ILI% · 气象数据 · 百度指数 · iTransformer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078992"/>
            <a:ext cx="18288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900" b="1">
                <a:solidFill>
                  <a:srgbClr val="0E7C7B"/>
                </a:solidFill>
                <a:latin typeface="Microsoft YaHei"/>
              </a:rPr>
              <a:t>16周输入</a:t>
            </a:r>
          </a:p>
          <a:p>
            <a:pPr algn="ctr"/>
            <a:r>
              <a:rPr sz="1900" b="1">
                <a:solidFill>
                  <a:srgbClr val="0E7C7B"/>
                </a:solidFill>
                <a:latin typeface="Microsoft YaHei"/>
              </a:rPr>
              <a:t>预测未来4周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13648" y="1956816"/>
            <a:ext cx="1975104" cy="0"/>
          </a:xfrm>
          <a:prstGeom prst="line">
            <a:avLst/>
          </a:prstGeom>
          <a:ln w="5080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52560" y="2212848"/>
            <a:ext cx="155448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真实公开数据</a:t>
            </a:r>
          </a:p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严格时间切分</a:t>
            </a:r>
          </a:p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可复现工程链路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5303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Microsoft YaHei"/>
              </a:rPr>
              <a:t>学生：张宇鑫  |  学号：22090032057  |  指导教师：刘艳艳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08192"/>
            <a:ext cx="47548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中国海洋大学 信息科学与工程学部</a:t>
            </a:r>
          </a:p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计算机科学与技术 2022级 ·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研究背景与目标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从被动监测走向提前 1-4 周的趋势预警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1627632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E85D4A"/>
                </a:solidFill>
                <a:latin typeface="Consola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E85D4A"/>
                </a:solidFill>
                <a:latin typeface="Microsoft YaHei"/>
              </a:rPr>
              <a:t>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预测窗口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27632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0E7C7B"/>
                </a:solidFill>
                <a:latin typeface="Consolas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YaHei"/>
              </a:rPr>
              <a:t>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21408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输入历史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627632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2563EB"/>
                </a:solidFill>
                <a:latin typeface="Consolas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21408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建模特征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054096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2999232"/>
            <a:ext cx="4754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现实问题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3291839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流感具有季节性与非线性高峰，单一监测序列往往存在滞后，难以及时支撑医疗资源调度。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005072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3950208"/>
            <a:ext cx="4754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研究目标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4242816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融合流感监测、气象环境和搜索行为数据，构建可复现的周度趋势预测系统。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956048"/>
            <a:ext cx="7315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4901184"/>
            <a:ext cx="4754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答辩重点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" y="5193792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说明数据可信、模型合理、实验可复现，以及结论边界不外推到单一城市病例数。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627632"/>
            <a:ext cx="3749039" cy="3337560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C6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2029968"/>
            <a:ext cx="1645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0A5D60"/>
                </a:solidFill>
                <a:latin typeface="Microsoft YaHei"/>
              </a:rPr>
              <a:t>核心问题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514600"/>
            <a:ext cx="292608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Microsoft YaHei"/>
              </a:rPr>
              <a:t>如何在真实周度公共卫生数据上，利用外部环境与行为信号，提前判断未来流感活动变化？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99248" y="3822191"/>
            <a:ext cx="2359152" cy="0"/>
          </a:xfrm>
          <a:prstGeom prst="line">
            <a:avLst/>
          </a:prstGeom>
          <a:ln w="3810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99248" y="4069080"/>
            <a:ext cx="283464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Microsoft YaHei"/>
              </a:rPr>
              <a:t>输出形式：预测曲线、模型指标、消融解释、Web 展示原型。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资料来源：项目 README、毕业论文修订核验版、开题报告与 results/reports 实验报告。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数据来源与研究口径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正式实验使用国家流感中心北方省份真实周度 ILI% 序列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508760"/>
            <a:ext cx="8641080" cy="457200"/>
          </a:xfrm>
          <a:prstGeom prst="rect">
            <a:avLst/>
          </a:prstGeom>
          <a:solidFill>
            <a:srgbClr val="EA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09344"/>
            <a:ext cx="97840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数据类型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19" y="15087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47672" y="1609344"/>
            <a:ext cx="26700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来源 / 口径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15087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36592" y="1609344"/>
            <a:ext cx="22128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规模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5159" y="15087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68312" y="1609344"/>
            <a:ext cx="230428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建模作用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965960"/>
            <a:ext cx="8641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066543"/>
            <a:ext cx="97840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流感监测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19" y="19659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47672" y="2066543"/>
            <a:ext cx="26700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中国国家流感中心周报，北方省份 ILI%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19659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36592" y="2066543"/>
            <a:ext cx="22128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849周；2010-01-04 至 2026-04-13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95159" y="19659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68312" y="2066543"/>
            <a:ext cx="230428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预测目标 ili_rate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423160"/>
            <a:ext cx="8641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523744"/>
            <a:ext cx="97840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气象环境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4519" y="24231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47672" y="2523744"/>
            <a:ext cx="26700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Open-Meteo Archive，8个北方代表城市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3440" y="24231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36592" y="2523744"/>
            <a:ext cx="22128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5594天；2011-01-01 至 2026-04-25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24231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68312" y="2523744"/>
            <a:ext cx="230428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温度、湿度、风速、气压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880360"/>
            <a:ext cx="8641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2980944"/>
            <a:ext cx="97840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搜索行为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74519" y="28803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47672" y="2980944"/>
            <a:ext cx="26700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百度指数，流感/感冒/发烧关键词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63440" y="28803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36592" y="2980944"/>
            <a:ext cx="22128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5593天；2011-01-01 至 2026-04-24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95159" y="28803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68312" y="2980944"/>
            <a:ext cx="230428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公众关注度外生变量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337560"/>
            <a:ext cx="8641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438144"/>
            <a:ext cx="97840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周度融合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74519" y="33375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47672" y="3438144"/>
            <a:ext cx="26700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按 ISO 周对齐并特征工程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63440" y="33375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36592" y="3438144"/>
            <a:ext cx="22128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797周融合；793周进入切分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95159" y="3337560"/>
            <a:ext cx="0" cy="45720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068312" y="3438144"/>
            <a:ext cx="230428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训练、验证、测试</a:t>
            </a:r>
          </a:p>
        </p:txBody>
      </p:sp>
      <p:sp>
        <p:nvSpPr>
          <p:cNvPr id="46" name="Oval 45"/>
          <p:cNvSpPr/>
          <p:nvPr/>
        </p:nvSpPr>
        <p:spPr>
          <a:xfrm>
            <a:off x="9692640" y="1572768"/>
            <a:ext cx="1783080" cy="1783080"/>
          </a:xfrm>
          <a:prstGeom prst="ellipse">
            <a:avLst/>
          </a:prstGeom>
          <a:solidFill>
            <a:srgbClr val="EAF7F6"/>
          </a:solidFill>
          <a:ln>
            <a:solidFill>
              <a:srgbClr val="BE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93808" y="1984248"/>
            <a:ext cx="1371600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Microsoft YaHei"/>
              </a:rPr>
              <a:t>北方省份</a:t>
            </a:r>
          </a:p>
          <a:p>
            <a:pPr algn="ctr"/>
            <a:r>
              <a:rPr sz="1800" b="1">
                <a:solidFill>
                  <a:srgbClr val="111827"/>
                </a:solidFill>
                <a:latin typeface="Microsoft YaHei"/>
              </a:rPr>
              <a:t/>
            </a:r>
          </a:p>
          <a:p>
            <a:pPr algn="ctr"/>
            <a:r>
              <a:rPr sz="1800" b="1">
                <a:solidFill>
                  <a:srgbClr val="111827"/>
                </a:solidFill>
                <a:latin typeface="Microsoft YaHei"/>
              </a:rPr>
              <a:t>公开可追溯</a:t>
            </a:r>
          </a:p>
          <a:p>
            <a:pPr algn="ctr"/>
            <a:r>
              <a:rPr sz="1800" b="1">
                <a:solidFill>
                  <a:srgbClr val="111827"/>
                </a:solidFill>
                <a:latin typeface="Microsoft YaHei"/>
              </a:rPr>
              <a:t>周度监测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92640" y="3749039"/>
            <a:ext cx="1783080" cy="292608"/>
          </a:xfrm>
          <a:prstGeom prst="round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3785615"/>
            <a:ext cx="1783080" cy="1920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不再使用平谷代理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4160520"/>
            <a:ext cx="1783080" cy="29260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4197096"/>
            <a:ext cx="1783080" cy="1920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不使用模拟目标序列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4572000"/>
            <a:ext cx="17830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4608576"/>
            <a:ext cx="1783080" cy="1920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不外推为病例数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资料来源：README、final_data_audit.md、毕业论文第2章。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数据处理与质量审计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从原始采集留痕到严格时序切分，降低数据泄漏风险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hesis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30" y="1508760"/>
            <a:ext cx="7255042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691640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0E7C7B"/>
                </a:solidFill>
                <a:latin typeface="Consola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1847088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YaHei"/>
              </a:rPr>
              <a:t>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85416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ili_rate 剩余缺失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6148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E85D4A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19" y="2916936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E85D4A"/>
                </a:solidFill>
                <a:latin typeface="Microsoft YaHei"/>
              </a:rPr>
              <a:t>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25526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有来源补齐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822191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2563EB"/>
                </a:solidFill>
                <a:latin typeface="Consolas"/>
              </a:rPr>
              <a:t>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19" y="3977639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315968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positive_rate 审计补齐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047488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992624"/>
            <a:ext cx="5120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质量策略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5285232"/>
            <a:ext cx="51206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source_manifest.json 记录来源，data_quality_report.json 复核行数、缺失、重复日期与时间边界。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5047488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992624"/>
            <a:ext cx="4937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边界说明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5285232"/>
            <a:ext cx="49377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positive_rate 仅作为原始监测留痕字段，默认不进入训练特征，避免不稳定 PDF 解析影响模型。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资料来源：final_data_audit.md、data_quality_report.json、论文第2章。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预测任务与特征设计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用过去 16 周多源变量预测未来 4 周 ILI%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60120" y="1856231"/>
            <a:ext cx="4160520" cy="9601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075688"/>
            <a:ext cx="1143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输入窗口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395728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Microsoft YaHei"/>
              </a:rPr>
              <a:t>过去 16 周 × 29 个特征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331720"/>
            <a:ext cx="1847088" cy="0"/>
          </a:xfrm>
          <a:prstGeom prst="line">
            <a:avLst/>
          </a:prstGeom>
          <a:ln w="4445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Triangle 9"/>
          <p:cNvSpPr/>
          <p:nvPr/>
        </p:nvSpPr>
        <p:spPr>
          <a:xfrm>
            <a:off x="6720840" y="2176272"/>
            <a:ext cx="310896" cy="310896"/>
          </a:xfrm>
          <a:prstGeom prst="rtTriangl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856231"/>
            <a:ext cx="4160520" cy="96012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D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2075688"/>
            <a:ext cx="1143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E85D4A"/>
                </a:solidFill>
                <a:latin typeface="Microsoft YaHei"/>
              </a:rPr>
              <a:t>输出目标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2395728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Microsoft YaHei"/>
              </a:rPr>
              <a:t>未来 1-4 周 ILI%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364992"/>
            <a:ext cx="10241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465576"/>
            <a:ext cx="12984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Microsoft YaHei"/>
              </a:rPr>
              <a:t>特征组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3364992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50592" y="3465576"/>
            <a:ext cx="43159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Microsoft YaHei"/>
              </a:rPr>
              <a:t>代表变量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79" y="3364992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85431" y="3465576"/>
            <a:ext cx="4270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Microsoft YaHei"/>
              </a:rPr>
              <a:t>设计目的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785616"/>
            <a:ext cx="10241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3886200"/>
            <a:ext cx="12984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流感历史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3785616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50592" y="3886200"/>
            <a:ext cx="43159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ili_rate、1/2/4周滞后、4/8周滚动统计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79" y="3785616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85431" y="3886200"/>
            <a:ext cx="4270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捕捉自相关与季节高峰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206240"/>
            <a:ext cx="10241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" y="4306824"/>
            <a:ext cx="12984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气象环境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77440" y="4206240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50592" y="4306824"/>
            <a:ext cx="43159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温度、湿度、风速、气压、体感/交互项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12279" y="4206240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85431" y="4306824"/>
            <a:ext cx="4270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引入环境变化背景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4626864"/>
            <a:ext cx="10241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4727448"/>
            <a:ext cx="12984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搜索行为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77440" y="4626864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50592" y="4727448"/>
            <a:ext cx="43159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流感、感冒、发烧搜索指数及变化率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12279" y="4626864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85431" y="4727448"/>
            <a:ext cx="4270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反映公众关注度变化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5047488"/>
            <a:ext cx="10241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" y="5148072"/>
            <a:ext cx="12984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时间特征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77440" y="5047488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50592" y="5148072"/>
            <a:ext cx="43159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week/month 周期编码、流感季标记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12279" y="5047488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85431" y="5148072"/>
            <a:ext cx="4270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表达周期性和季节性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资料来源：experiment_summary.json、config/config.yaml、论文第2.3节。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模型与系统设计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iTransformer 建模跨变量关系，工程链路覆盖采集、训练、评估和展示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1536192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0A5D60"/>
                </a:solidFill>
                <a:latin typeface="Microsoft YaHei"/>
              </a:rPr>
              <a:t>iTransformer 的关键变化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029968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975104"/>
            <a:ext cx="4480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变量作为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267712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将每个变量的历史窗口序列作为一个 token，在变量维度计算注意力。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99232"/>
            <a:ext cx="7315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944368"/>
            <a:ext cx="4480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目标 token 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236976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学习流感历史、气象与搜索行为之间的关联后，映射为未来 4 周预测。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68496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913632"/>
            <a:ext cx="4480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基准模型对照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206240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设置 LSTM、DLinear、ARIMA，分别代表循环网络、线性分解与传统统计方法。</a:t>
            </a:r>
          </a:p>
        </p:txBody>
      </p:sp>
      <p:pic>
        <p:nvPicPr>
          <p:cNvPr id="16" name="Picture 15" descr="thesis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808" y="1572768"/>
            <a:ext cx="5739063" cy="24231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852160" y="4343400"/>
            <a:ext cx="4709160" cy="356616"/>
          </a:xfrm>
          <a:prstGeom prst="rect">
            <a:avLst/>
          </a:prstGeom>
          <a:solidFill>
            <a:srgbClr val="EA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4443984"/>
            <a:ext cx="10241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层次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4343400"/>
            <a:ext cx="0" cy="356616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68312" y="4443984"/>
            <a:ext cx="344728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项目实现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700016"/>
            <a:ext cx="47091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4800600"/>
            <a:ext cx="10241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数据层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4700016"/>
            <a:ext cx="0" cy="356615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68312" y="4800600"/>
            <a:ext cx="344728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CSV / source_manifest.json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056632"/>
            <a:ext cx="470916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2" y="5157216"/>
            <a:ext cx="10241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处理层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5056632"/>
            <a:ext cx="0" cy="356616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68312" y="5157216"/>
            <a:ext cx="344728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清洗、周聚合、特征工程、切分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5413248"/>
            <a:ext cx="47091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5312" y="5513832"/>
            <a:ext cx="10241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模型层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95160" y="5413248"/>
            <a:ext cx="0" cy="356616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68312" y="5513832"/>
            <a:ext cx="344728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iTransformer + 基准模型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5769864"/>
            <a:ext cx="470916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25312" y="5870448"/>
            <a:ext cx="10241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展示层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5769864"/>
            <a:ext cx="0" cy="356616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68312" y="5870448"/>
            <a:ext cx="344728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Streamlit Web 原型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资料来源：src/models/itransformer.py、scripts/train.py、web/app.py、论文第3章与第5章。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按时间顺序切分，避免未来信息进入训练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5840" y="2267712"/>
            <a:ext cx="5989320" cy="5486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95160" y="2267712"/>
            <a:ext cx="1298448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3608" y="2267712"/>
            <a:ext cx="1307592" cy="5486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340864"/>
            <a:ext cx="5660136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训练集 555行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2011-01-31 至 2021-09-20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1736" y="2340864"/>
            <a:ext cx="1225295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Microsoft YaHei"/>
              </a:rPr>
              <a:t>验证集 119行</a:t>
            </a:r>
          </a:p>
          <a:p>
            <a:pPr algn="ctr"/>
            <a:r>
              <a:rPr sz="840" b="1">
                <a:solidFill>
                  <a:srgbClr val="FFFFFF"/>
                </a:solidFill>
                <a:latin typeface="Microsoft YaHei"/>
              </a:rPr>
              <a:t>2021-09-27 至 2024-01-01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183" y="2340864"/>
            <a:ext cx="12344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Microsoft YaHei"/>
              </a:rPr>
              <a:t>测试集 119行</a:t>
            </a:r>
          </a:p>
          <a:p>
            <a:pPr algn="ctr"/>
            <a:r>
              <a:rPr sz="840" b="1">
                <a:solidFill>
                  <a:srgbClr val="FFFFFF"/>
                </a:solidFill>
                <a:latin typeface="Microsoft YaHei"/>
              </a:rPr>
              <a:t>2024-01-08 至 2026-04-13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3090672"/>
            <a:ext cx="859536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" y="3218688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Microsoft YaHei"/>
              </a:rPr>
              <a:t>2011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18688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Microsoft YaHei"/>
              </a:rPr>
              <a:t>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3218688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Microsoft YaHei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3218688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Microsoft YaHei"/>
              </a:rPr>
              <a:t>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22191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922776"/>
            <a:ext cx="125272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Microsoft YaHei"/>
              </a:rPr>
              <a:t>训练配置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3822191"/>
            <a:ext cx="0" cy="365761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50592" y="3922776"/>
            <a:ext cx="344728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Microsoft YaHei"/>
              </a:rPr>
              <a:t>取值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187952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288536"/>
            <a:ext cx="125272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随机种子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4187952"/>
            <a:ext cx="0" cy="36576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50592" y="4288536"/>
            <a:ext cx="344728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553712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654296"/>
            <a:ext cx="125272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最大轮数 / 早停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4553712"/>
            <a:ext cx="0" cy="36576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50592" y="4654296"/>
            <a:ext cx="344728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300 / patience=30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919472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020056"/>
            <a:ext cx="125272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优化器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77440" y="4919472"/>
            <a:ext cx="0" cy="365760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50592" y="5020056"/>
            <a:ext cx="344728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Adam，学习率 0.001，权重衰减 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85231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5385816"/>
            <a:ext cx="125272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评价指标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77440" y="5285231"/>
            <a:ext cx="0" cy="365761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50592" y="5385816"/>
            <a:ext cx="344728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RMSE、MAE、MAPE、R2、峰值指标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078224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1424" y="4023360"/>
            <a:ext cx="4206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实验边界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4315968"/>
            <a:ext cx="42062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指标用于当前北方地区真实周度监测口径下的模型比较，不作为单一城市病例数预测结论。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资料来源：experiment_summary.json、config/config.yaml、论文第4.1节。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模型对比结果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iTransformer 在整体误差和解释方差上表现最好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166420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0E7C7B"/>
                </a:solidFill>
                <a:latin typeface="Consolas"/>
              </a:rPr>
              <a:t>0.772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5798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iTransformer 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6420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2563EB"/>
                </a:solidFill>
                <a:latin typeface="Consolas"/>
              </a:rPr>
              <a:t>0.491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5798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6420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E85D4A"/>
                </a:solidFill>
                <a:latin typeface="Consolas"/>
              </a:rPr>
              <a:t>11.51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1819656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E85D4A"/>
                </a:solidFill>
                <a:latin typeface="Microsoft YaHe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5798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6420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2E9E62"/>
                </a:solidFill>
                <a:latin typeface="Consolas"/>
              </a:rPr>
              <a:t>0.538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5798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R²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3355848"/>
            <a:ext cx="452628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29184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1.4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3847338"/>
            <a:ext cx="452628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78333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1.0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4338828"/>
            <a:ext cx="452628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27482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4830318"/>
            <a:ext cx="452628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76631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5321808"/>
            <a:ext cx="452628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525780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5321808"/>
            <a:ext cx="4526280" cy="0"/>
          </a:xfrm>
          <a:prstGeom prst="line">
            <a:avLst/>
          </a:prstGeom>
          <a:ln w="1143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591341" y="4237721"/>
            <a:ext cx="509206" cy="108408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9912" y="4073129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0.772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8744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iTransformer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2911" y="3945636"/>
            <a:ext cx="509206" cy="137617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1482" y="3781044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0.980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0314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ARIMA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4481" y="3874018"/>
            <a:ext cx="509206" cy="1447789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3052" y="3709426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1.031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1884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DLinear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6051" y="3403592"/>
            <a:ext cx="509206" cy="1918215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4622" y="3239000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1.366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3454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LSTM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12280" y="3355848"/>
            <a:ext cx="4526279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0" y="329184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12280" y="3847338"/>
            <a:ext cx="4526279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0" y="378333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12280" y="4338828"/>
            <a:ext cx="4526279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427482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12280" y="4830318"/>
            <a:ext cx="4526279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0" y="476631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-0.3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12280" y="5321808"/>
            <a:ext cx="4526279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0" y="525780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-0.6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12280" y="4338828"/>
            <a:ext cx="4526279" cy="0"/>
          </a:xfrm>
          <a:prstGeom prst="line">
            <a:avLst/>
          </a:prstGeom>
          <a:ln w="1143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23461" y="3457422"/>
            <a:ext cx="509206" cy="881405"/>
          </a:xfrm>
          <a:prstGeom prst="rect">
            <a:avLst/>
          </a:prstGeom>
          <a:solidFill>
            <a:srgbClr val="2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22032" y="3292830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0.538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0865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iTransformer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5031" y="3601593"/>
            <a:ext cx="509206" cy="737234"/>
          </a:xfrm>
          <a:prstGeom prst="rect">
            <a:avLst/>
          </a:prstGeom>
          <a:solidFill>
            <a:srgbClr val="2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53603" y="3437001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0.450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2435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ARIMA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86601" y="4050487"/>
            <a:ext cx="509206" cy="288340"/>
          </a:xfrm>
          <a:prstGeom prst="rect">
            <a:avLst/>
          </a:prstGeom>
          <a:solidFill>
            <a:srgbClr val="2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85173" y="3885895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0.176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4005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DLinear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8171" y="4338828"/>
            <a:ext cx="509206" cy="727405"/>
          </a:xfrm>
          <a:prstGeom prst="rect">
            <a:avLst/>
          </a:prstGeom>
          <a:solidFill>
            <a:srgbClr val="2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6743" y="5093665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-0.444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5575" y="5458968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LSTM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5779008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icrosoft YaHei"/>
              </a:rPr>
              <a:t>结论：当前数据版本下，iTransformer 的整体 RMSE 最低；ARIMA 在短期与峰值指标上仍有竞争力。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资料来源：all_metrics.json、experiment_brief.md、论文第4.2节。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预测效果与多步误差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越远的预测步长不确定性越高，符合多步时间序列规律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red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17320"/>
            <a:ext cx="708660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600200"/>
            <a:ext cx="331012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01952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0A5D60"/>
                </a:solidFill>
                <a:latin typeface="Microsoft YaHei"/>
              </a:rPr>
              <a:t>分 Horizon 误差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2496312"/>
            <a:ext cx="205740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47888" y="2441448"/>
            <a:ext cx="30175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50" b="0">
                <a:solidFill>
                  <a:srgbClr val="5B6472"/>
                </a:solidFill>
                <a:latin typeface="Microsoft YaHei"/>
              </a:rPr>
              <a:t>1.0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599182"/>
            <a:ext cx="205740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47888" y="2544318"/>
            <a:ext cx="30175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50" b="0">
                <a:solidFill>
                  <a:srgbClr val="5B6472"/>
                </a:solidFill>
                <a:latin typeface="Microsoft YaHei"/>
              </a:rPr>
              <a:t>0.8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2702052"/>
            <a:ext cx="205740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47888" y="2647188"/>
            <a:ext cx="30175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50" b="0">
                <a:solidFill>
                  <a:srgbClr val="5B6472"/>
                </a:solidFill>
                <a:latin typeface="Microsoft YaHei"/>
              </a:rPr>
              <a:t>0.5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2804922"/>
            <a:ext cx="205740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7888" y="2750058"/>
            <a:ext cx="30175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50" b="0">
                <a:solidFill>
                  <a:srgbClr val="5B6472"/>
                </a:solidFill>
                <a:latin typeface="Microsoft YaHei"/>
              </a:rPr>
              <a:t>0.2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2907792"/>
            <a:ext cx="205740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47888" y="2852928"/>
            <a:ext cx="30175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50" b="0">
                <a:solidFill>
                  <a:srgbClr val="5B6472"/>
                </a:solidFill>
                <a:latin typeface="Microsoft YaHei"/>
              </a:rPr>
              <a:t>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108960"/>
            <a:ext cx="29260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5B6472"/>
                </a:solidFill>
                <a:latin typeface="Microsoft YaHei"/>
              </a:rPr>
              <a:t>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518029"/>
            <a:ext cx="43891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Microsoft YaHei"/>
              </a:rPr>
              <a:t>0.525</a:t>
            </a:r>
          </a:p>
        </p:txBody>
      </p:sp>
      <p:sp>
        <p:nvSpPr>
          <p:cNvPr id="21" name="Oval 20"/>
          <p:cNvSpPr/>
          <p:nvPr/>
        </p:nvSpPr>
        <p:spPr>
          <a:xfrm>
            <a:off x="8609076" y="2659761"/>
            <a:ext cx="64008" cy="640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3108960"/>
            <a:ext cx="29260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5B6472"/>
                </a:solidFill>
                <a:latin typeface="Microsoft YaHei"/>
              </a:rPr>
              <a:t>H2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455895"/>
            <a:ext cx="43891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Microsoft YaHei"/>
              </a:rPr>
              <a:t>0.676</a:t>
            </a:r>
          </a:p>
        </p:txBody>
      </p:sp>
      <p:sp>
        <p:nvSpPr>
          <p:cNvPr id="24" name="Oval 23"/>
          <p:cNvSpPr/>
          <p:nvPr/>
        </p:nvSpPr>
        <p:spPr>
          <a:xfrm>
            <a:off x="9294876" y="2597627"/>
            <a:ext cx="64008" cy="640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3108960"/>
            <a:ext cx="29260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5B6472"/>
                </a:solidFill>
                <a:latin typeface="Microsoft YaHei"/>
              </a:rPr>
              <a:t>H3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2393350"/>
            <a:ext cx="43891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Microsoft YaHei"/>
              </a:rPr>
              <a:t>0.828</a:t>
            </a:r>
          </a:p>
        </p:txBody>
      </p:sp>
      <p:sp>
        <p:nvSpPr>
          <p:cNvPr id="27" name="Oval 26"/>
          <p:cNvSpPr/>
          <p:nvPr/>
        </p:nvSpPr>
        <p:spPr>
          <a:xfrm>
            <a:off x="9980676" y="2535082"/>
            <a:ext cx="64008" cy="640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52176" y="3108960"/>
            <a:ext cx="29260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5B6472"/>
                </a:solidFill>
                <a:latin typeface="Microsoft YaHei"/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9024" y="2329571"/>
            <a:ext cx="43891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Microsoft YaHei"/>
              </a:rPr>
              <a:t>0.983</a:t>
            </a:r>
          </a:p>
        </p:txBody>
      </p:sp>
      <p:sp>
        <p:nvSpPr>
          <p:cNvPr id="30" name="Oval 29"/>
          <p:cNvSpPr/>
          <p:nvPr/>
        </p:nvSpPr>
        <p:spPr>
          <a:xfrm>
            <a:off x="10666476" y="2471303"/>
            <a:ext cx="64008" cy="640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8641080" y="2629631"/>
            <a:ext cx="685800" cy="62134"/>
          </a:xfrm>
          <a:prstGeom prst="line">
            <a:avLst/>
          </a:prstGeom>
          <a:ln w="2286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326880" y="2567086"/>
            <a:ext cx="685800" cy="62545"/>
          </a:xfrm>
          <a:prstGeom prst="line">
            <a:avLst/>
          </a:prstGeom>
          <a:ln w="2286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012680" y="2503307"/>
            <a:ext cx="685800" cy="63779"/>
          </a:xfrm>
          <a:prstGeom prst="line">
            <a:avLst/>
          </a:prstGeom>
          <a:ln w="2286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75320" y="404164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0E7C7B"/>
                </a:solidFill>
                <a:latin typeface="Consolas"/>
              </a:rPr>
              <a:t>0.525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3542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H1 RMSE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4041648"/>
            <a:ext cx="13258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E85D4A"/>
                </a:solidFill>
                <a:latin typeface="Consolas"/>
              </a:rPr>
              <a:t>0.983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453542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YaHei"/>
              </a:rPr>
              <a:t>H4 RMSE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010912"/>
            <a:ext cx="283464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icrosoft YaHei"/>
              </a:rPr>
              <a:t>解释：第1周误差最低，预测距离增加后 RMSE 和 MAE 上升；高峰阶段仍是主要误差来源。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资料来源：iTransformer_predictions.png、horizon_metrics.json、论文第4.3节。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消融实验与解释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外生变量的贡献需要结合聚合噪声和流行季背景解释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1984248"/>
            <a:ext cx="489204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192024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2727198"/>
            <a:ext cx="489204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66319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3470148"/>
            <a:ext cx="489204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40614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213098"/>
            <a:ext cx="489204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149089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4956048"/>
            <a:ext cx="4892040" cy="0"/>
          </a:xfrm>
          <a:prstGeom prst="line">
            <a:avLst/>
          </a:prstGeom>
          <a:ln w="7620">
            <a:solidFill>
              <a:srgbClr val="E3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892040"/>
            <a:ext cx="329184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680" b="0">
                <a:solidFill>
                  <a:srgbClr val="5B6472"/>
                </a:solidFill>
                <a:latin typeface="Microsoft YaHei"/>
              </a:rPr>
              <a:t>0.0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4956048"/>
            <a:ext cx="4892040" cy="0"/>
          </a:xfrm>
          <a:prstGeom prst="line">
            <a:avLst/>
          </a:prstGeom>
          <a:ln w="1143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16487" y="2295412"/>
            <a:ext cx="550354" cy="26606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5632" y="2130820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0.761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4464" y="5093207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仅流感历史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9497" y="2274435"/>
            <a:ext cx="550354" cy="26816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8643" y="2109843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0.767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7474" y="5093207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流感+气象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507" y="2263946"/>
            <a:ext cx="550354" cy="269210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1653" y="2099354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0.770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0485" y="5093207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三源融合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85517" y="2201014"/>
            <a:ext cx="550354" cy="27550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4662" y="2036422"/>
            <a:ext cx="512064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Microsoft YaHei"/>
              </a:rPr>
              <a:t>0.788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3494" y="5093207"/>
            <a:ext cx="914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90" b="0">
                <a:solidFill>
                  <a:srgbClr val="111827"/>
                </a:solidFill>
                <a:latin typeface="Microsoft YaHei"/>
              </a:rPr>
              <a:t>流感+搜索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783080"/>
            <a:ext cx="4206240" cy="420624"/>
          </a:xfrm>
          <a:prstGeom prst="rect">
            <a:avLst/>
          </a:prstGeom>
          <a:solidFill>
            <a:srgbClr val="EA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1883664"/>
            <a:ext cx="1435607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特征组合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66760" y="1783080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39912" y="1883664"/>
            <a:ext cx="6583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特征数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0" y="1783080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17152" y="1883664"/>
            <a:ext cx="7955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RMSE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0" y="1783080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131552" y="1883664"/>
            <a:ext cx="841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20" b="1">
                <a:solidFill>
                  <a:srgbClr val="0E7C7B"/>
                </a:solidFill>
                <a:latin typeface="Microsoft YaHei"/>
              </a:rP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2203704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2304288"/>
            <a:ext cx="1435607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仅流感历史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6760" y="2203704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39912" y="2304288"/>
            <a:ext cx="6583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13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203704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17152" y="2304288"/>
            <a:ext cx="7955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0.761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058400" y="2203704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131552" y="2304288"/>
            <a:ext cx="841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0.552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2624328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85432" y="2724912"/>
            <a:ext cx="1435607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流感+气象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66760" y="2624328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39912" y="2724912"/>
            <a:ext cx="6583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20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44000" y="2624328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217152" y="2724912"/>
            <a:ext cx="7955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0.767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058400" y="2624328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131552" y="2724912"/>
            <a:ext cx="841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0.544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3044952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85432" y="3145536"/>
            <a:ext cx="1435607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三源融合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366760" y="3044952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39912" y="3145536"/>
            <a:ext cx="6583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29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144000" y="3044952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17152" y="3145536"/>
            <a:ext cx="7955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0.770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058400" y="3044952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131552" y="3145536"/>
            <a:ext cx="841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0.540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3465576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566160"/>
            <a:ext cx="1435607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Microsoft YaHei"/>
              </a:rPr>
              <a:t>流感+搜索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366760" y="3465576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39912" y="3566160"/>
            <a:ext cx="65836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22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144000" y="3465576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217152" y="3566160"/>
            <a:ext cx="7955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0.788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058400" y="3465576"/>
            <a:ext cx="0" cy="420624"/>
          </a:xfrm>
          <a:prstGeom prst="line">
            <a:avLst/>
          </a:prstGeom>
          <a:ln w="7620">
            <a:solidFill>
              <a:srgbClr val="D7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131552" y="3566160"/>
            <a:ext cx="84124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5B6472"/>
                </a:solidFill>
                <a:latin typeface="Microsoft YaHei"/>
              </a:rPr>
              <a:t>0.519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80" y="4535424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50024" y="4480560"/>
            <a:ext cx="4206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实验发现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50024" y="4773168"/>
            <a:ext cx="42062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仅流感历史 RMSE 最低，流感+气象与三源融合非常接近。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12280" y="5449824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50024" y="5394960"/>
            <a:ext cx="4206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答辩表述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50024" y="5687568"/>
            <a:ext cx="42062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不能简单说“搜索指数一定提升性能”；更稳妥的结论是外生变量提供辅助解释，但受代表城市聚合口径影响。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资料来源：ablation_report.md、ablation_metrics.csv、论文第4.4节。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Web 展示与工程复现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答辩演示可从结果文件直接读取，不依赖临时手工整理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hesis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04" y="1554480"/>
            <a:ext cx="5955631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737360"/>
            <a:ext cx="27432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0A5D60"/>
                </a:solidFill>
                <a:latin typeface="Microsoft YaHei"/>
              </a:rPr>
              <a:t>Streamlit 原型功能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2322576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81544" y="2267712"/>
            <a:ext cx="3474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数据总览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2560320"/>
            <a:ext cx="3474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多源时序、样本数量、时间范围、相关性矩阵。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3163824"/>
            <a:ext cx="7315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3108960"/>
            <a:ext cx="3474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预测分析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3401568"/>
            <a:ext cx="3474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训练曲线、预测曲线、误差分布、注意力热力图。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4005072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3950208"/>
            <a:ext cx="3474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对比实验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4242816"/>
            <a:ext cx="3474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多模型指标、消融实验与预警调度演示。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572000"/>
            <a:ext cx="5943600" cy="84124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9160"/>
            <a:ext cx="53949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DFF7EF"/>
                </a:solidFill>
                <a:latin typeface="Consolas"/>
              </a:rPr>
              <a:t>python scripts/train.py --skip-collect</a:t>
            </a:r>
          </a:p>
          <a:p>
            <a:pPr algn="l"/>
            <a:r>
              <a:rPr sz="950" b="0">
                <a:solidFill>
                  <a:srgbClr val="DFF7EF"/>
                </a:solidFill>
                <a:latin typeface="Consolas"/>
              </a:rPr>
              <a:t>python scripts/run_ablation.py --skip-collect</a:t>
            </a:r>
          </a:p>
          <a:p>
            <a:pPr algn="l"/>
            <a:r>
              <a:rPr sz="950" b="0">
                <a:solidFill>
                  <a:srgbClr val="DFF7EF"/>
                </a:solidFill>
                <a:latin typeface="Consolas"/>
              </a:rPr>
              <a:t>streamlit run web/app.py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资料来源：README、web/app.py、scripts/train.py、scripts/run_ablation.py。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503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77824"/>
            <a:ext cx="8503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</a:rPr>
              <a:t>完成了真实数据、多源融合、深度模型和可视化系统的闭环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502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300" b="1">
                <a:solidFill>
                  <a:srgbClr val="0E7C7B"/>
                </a:solidFill>
                <a:latin typeface="Microsoft YaHei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143000"/>
            <a:ext cx="10972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6459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0A5D60"/>
                </a:solidFill>
                <a:latin typeface="Microsoft YaHei"/>
              </a:rPr>
              <a:t>主要结论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12848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157984"/>
            <a:ext cx="5212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数据可信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450591"/>
            <a:ext cx="52120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正式实验切换为国家流感中心北方省份周度 ILI%，并保留缺失补齐和来源审计。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82112"/>
            <a:ext cx="7315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127248"/>
            <a:ext cx="5212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模型有效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419856"/>
            <a:ext cx="52120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iTransformer 在测试集上 RMSE=0.772、MAE=0.491、MAPE=11.51%、R²=0.538。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51376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096512"/>
            <a:ext cx="5212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工程完整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389120"/>
            <a:ext cx="52120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项目覆盖采集、预处理、特征工程、训练评估、消融实验和 Web 展示。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6459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E85D4A"/>
                </a:solidFill>
                <a:latin typeface="Microsoft YaHei"/>
              </a:rPr>
              <a:t>不足与展望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212848"/>
            <a:ext cx="73152" cy="384048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0024" y="2157984"/>
            <a:ext cx="43891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区域聚合仍可细化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2450591"/>
            <a:ext cx="43891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百度指数和气象采用代表城市简单聚合，后续可引入人口权重或省级分层。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3182112"/>
            <a:ext cx="7315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0024" y="3127248"/>
            <a:ext cx="43891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峰值预测仍需增强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3419856"/>
            <a:ext cx="43891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高发期误差更明显，可尝试高峰样本加权、分季节训练和概率预测。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4151376"/>
            <a:ext cx="73152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4" y="4096512"/>
            <a:ext cx="43891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icrosoft YaHei"/>
              </a:rPr>
              <a:t>解释性不等于因果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4389120"/>
            <a:ext cx="43891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0">
                <a:solidFill>
                  <a:srgbClr val="5B6472"/>
                </a:solidFill>
                <a:latin typeface="Microsoft YaHei"/>
              </a:rPr>
              <a:t>注意力热力图只能辅助理解信息流，不能直接作为流感传播因果结论。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96128"/>
            <a:ext cx="67665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900" b="1">
                <a:solidFill>
                  <a:srgbClr val="111827"/>
                </a:solidFill>
                <a:latin typeface="Microsoft YaHei"/>
              </a:rPr>
              <a:t>谢谢各位老师，请批评指正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" y="6419088"/>
            <a:ext cx="10972800" cy="0"/>
          </a:xfrm>
          <a:prstGeom prst="line">
            <a:avLst/>
          </a:prstGeom>
          <a:ln w="889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510528"/>
            <a:ext cx="7223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7B8493"/>
                </a:solidFill>
                <a:latin typeface="Microsoft YaHei"/>
              </a:rPr>
              <a:t>资料来源：毕业论文第6-7章、experiment_brief.md、ablation_report.md。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510528"/>
            <a:ext cx="33832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7B8493"/>
                </a:solidFill>
                <a:latin typeface="Microsoft YaHei"/>
              </a:rPr>
              <a:t>中国海洋大学 · 计算机科学与技术本科毕业设计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
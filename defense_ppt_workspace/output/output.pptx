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99a4fbb484743" /><Relationship Type="http://schemas.openxmlformats.org/officeDocument/2006/relationships/extended-properties" Target="/docProps/app.xml" Id="Rced99456b6744d21" /><Relationship Type="http://schemas.openxmlformats.org/officeDocument/2006/relationships/officeDocument" Target="/ppt/presentation.xml" Id="R1751ee62886e48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eb7150db014ae0"/>
  </p:sldMasterIdLst>
  <p:notesMasterIdLst>
    <p:notesMasterId xmlns:r="http://schemas.openxmlformats.org/officeDocument/2006/relationships" r:id="R1fbaf9a067824a24"/>
  </p:notesMasterIdLst>
  <p:sldIdLst>
    <p:sldId xmlns:r="http://schemas.openxmlformats.org/officeDocument/2006/relationships" id="256" r:id="R2a534cd9f9fd44b6"/>
    <p:sldId xmlns:r="http://schemas.openxmlformats.org/officeDocument/2006/relationships" id="257" r:id="Rc2c3bb1144df4ea1"/>
    <p:sldId xmlns:r="http://schemas.openxmlformats.org/officeDocument/2006/relationships" id="258" r:id="Rd0b505f5be574fa5"/>
    <p:sldId xmlns:r="http://schemas.openxmlformats.org/officeDocument/2006/relationships" id="259" r:id="R3bdc0639fa0845b8"/>
    <p:sldId xmlns:r="http://schemas.openxmlformats.org/officeDocument/2006/relationships" id="260" r:id="Rce17635cc9584dc0"/>
    <p:sldId xmlns:r="http://schemas.openxmlformats.org/officeDocument/2006/relationships" id="261" r:id="R49e4a236f24748fc"/>
    <p:sldId xmlns:r="http://schemas.openxmlformats.org/officeDocument/2006/relationships" id="262" r:id="R9fbb19202a1e4c72"/>
    <p:sldId xmlns:r="http://schemas.openxmlformats.org/officeDocument/2006/relationships" id="263" r:id="R4bdecab579144fbc"/>
    <p:sldId xmlns:r="http://schemas.openxmlformats.org/officeDocument/2006/relationships" id="264" r:id="Rcb36a4359c4f4e16"/>
    <p:sldId xmlns:r="http://schemas.openxmlformats.org/officeDocument/2006/relationships" id="265" r:id="R31c5409fe43b4932"/>
    <p:sldId xmlns:r="http://schemas.openxmlformats.org/officeDocument/2006/relationships" id="266" r:id="R906657fd7b354d4e"/>
    <p:sldId xmlns:r="http://schemas.openxmlformats.org/officeDocument/2006/relationships" id="267" r:id="R6f10b11a9e5c4d2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b7150db014ae0" /><Relationship Type="http://schemas.openxmlformats.org/officeDocument/2006/relationships/theme" Target="/ppt/theme/theme1.xml" Id="R22b20226899a4b70" /><Relationship Type="http://schemas.openxmlformats.org/officeDocument/2006/relationships/notesMaster" Target="/ppt/notesMasters/notesMaster1.xml" Id="R1fbaf9a067824a24" /><Relationship Type="http://schemas.openxmlformats.org/officeDocument/2006/relationships/presProps" Target="/ppt/presProps.xml" Id="Rea09761f0f2f4c4d" /><Relationship Type="http://schemas.openxmlformats.org/officeDocument/2006/relationships/viewProps" Target="/ppt/viewProps.xml" Id="R1fad373977a14b09" /><Relationship Type="http://schemas.openxmlformats.org/officeDocument/2006/relationships/tableStyles" Target="/ppt/tableStyles.xml" Id="R5f8b85c4ac0146e8" /><Relationship Type="http://schemas.openxmlformats.org/officeDocument/2006/relationships/slide" Target="/ppt/slides/slide1.xml" Id="R2a534cd9f9fd44b6" /><Relationship Type="http://schemas.openxmlformats.org/officeDocument/2006/relationships/slide" Target="/ppt/slides/slide2.xml" Id="Rc2c3bb1144df4ea1" /><Relationship Type="http://schemas.openxmlformats.org/officeDocument/2006/relationships/slide" Target="/ppt/slides/slide3.xml" Id="Rd0b505f5be574fa5" /><Relationship Type="http://schemas.openxmlformats.org/officeDocument/2006/relationships/slide" Target="/ppt/slides/slide4.xml" Id="R3bdc0639fa0845b8" /><Relationship Type="http://schemas.openxmlformats.org/officeDocument/2006/relationships/slide" Target="/ppt/slides/slide5.xml" Id="Rce17635cc9584dc0" /><Relationship Type="http://schemas.openxmlformats.org/officeDocument/2006/relationships/slide" Target="/ppt/slides/slide6.xml" Id="R49e4a236f24748fc" /><Relationship Type="http://schemas.openxmlformats.org/officeDocument/2006/relationships/slide" Target="/ppt/slides/slide7.xml" Id="R9fbb19202a1e4c72" /><Relationship Type="http://schemas.openxmlformats.org/officeDocument/2006/relationships/slide" Target="/ppt/slides/slide8.xml" Id="R4bdecab579144fbc" /><Relationship Type="http://schemas.openxmlformats.org/officeDocument/2006/relationships/slide" Target="/ppt/slides/slide9.xml" Id="Rcb36a4359c4f4e16" /><Relationship Type="http://schemas.openxmlformats.org/officeDocument/2006/relationships/slide" Target="/ppt/slides/slide10.xml" Id="R31c5409fe43b4932" /><Relationship Type="http://schemas.openxmlformats.org/officeDocument/2006/relationships/slide" Target="/ppt/slides/slide11.xml" Id="R906657fd7b354d4e" /><Relationship Type="http://schemas.openxmlformats.org/officeDocument/2006/relationships/slide" Target="/ppt/slides/slide12.xml" Id="R6f10b11a9e5c4d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035ff429a3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1d51c07fb4576" /><Relationship Type="http://schemas.openxmlformats.org/officeDocument/2006/relationships/notesMaster" Target="/ppt/notesMasters/notesMaster1.xml" Id="Rfecb8d0b5f0445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9e74e4cea4655" /><Relationship Type="http://schemas.openxmlformats.org/officeDocument/2006/relationships/notesMaster" Target="/ppt/notesMasters/notesMaster1.xml" Id="R17cc116877dc49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b6a7ec784f420f" /><Relationship Type="http://schemas.openxmlformats.org/officeDocument/2006/relationships/notesMaster" Target="/ppt/notesMasters/notesMaster1.xml" Id="Rad2ffde5887e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5e5f693ffd471f" /><Relationship Type="http://schemas.openxmlformats.org/officeDocument/2006/relationships/notesMaster" Target="/ppt/notesMasters/notesMaster1.xml" Id="Rb2770c262f9349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f7261bcb764b4b" /><Relationship Type="http://schemas.openxmlformats.org/officeDocument/2006/relationships/notesMaster" Target="/ppt/notesMasters/notesMaster1.xml" Id="R65db52b66c4644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1a670956bb4f38" /><Relationship Type="http://schemas.openxmlformats.org/officeDocument/2006/relationships/notesMaster" Target="/ppt/notesMasters/notesMaster1.xml" Id="R1f453405e73a47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3342372e644041" /><Relationship Type="http://schemas.openxmlformats.org/officeDocument/2006/relationships/notesMaster" Target="/ppt/notesMasters/notesMaster1.xml" Id="R5571d2318fd6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77279d65124a53" /><Relationship Type="http://schemas.openxmlformats.org/officeDocument/2006/relationships/notesMaster" Target="/ppt/notesMasters/notesMaster1.xml" Id="Rbc95293272d4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1c075f66b746a3" /><Relationship Type="http://schemas.openxmlformats.org/officeDocument/2006/relationships/notesMaster" Target="/ppt/notesMasters/notesMaster1.xml" Id="R2a20ffad4c0044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a2c03706748a9" /><Relationship Type="http://schemas.openxmlformats.org/officeDocument/2006/relationships/notesMaster" Target="/ppt/notesMasters/notesMaster1.xml" Id="R5267b23c80884b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015ad4bfba42a4" /><Relationship Type="http://schemas.openxmlformats.org/officeDocument/2006/relationships/notesMaster" Target="/ppt/notesMasters/notesMaster1.xml" Id="R62ab64a6b2d242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2af423aa1d4808" /><Relationship Type="http://schemas.openxmlformats.org/officeDocument/2006/relationships/notesMaster" Target="/ppt/notesMasters/notesMaster1.xml" Id="Rc60215d3a99a4a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开场强调三点：真实公开数据、多源融合、未来4周预测。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本页回答为什么做：公共卫生监测有滞后，项目目标是做周度趋势预警而非病例确诊预测。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这一页强调最终口径：北方省份 ILI%，不是北京或平谷病例预测。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说明数据处理流程和补齐透明度。重点不是补齐很多，而是目标变量已经无缺失且有来源记录。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强调这是多步预测：不是只预测下一周，而是同时输出未来四周。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用本页快速说明为什么用 iTransformer，以及项目不是单个模型脚本，而是一条完整工程链路。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本页说明数据切分非常关键：按时间顺序，不随机打乱，避免未来信息泄漏。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突出结果，同时保持谨慎：模型排序依赖当前数据版本、聚合方法和时间切分。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这页讲模型可用性和局限：趋势有捕捉能力，但峰值时段误差仍更明显。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答辩时主动说明消融结果，避免过度宣传多源数据一定提升。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本页说明系统可以复现，结果不是一次性的图。现场如果时间允许，可打开 web/app.py 对应的 Streamlit 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结尾回到闭环和边界：数据真实、模型表现、工程可展示，同时不夸大因果和泛化。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580c86856408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abb7ab3a314892" /><Relationship Type="http://schemas.openxmlformats.org/officeDocument/2006/relationships/slideLayout" Target="/ppt/slideLayouts/slideLayout2.xml" Id="Re1c75feb293a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c75feb293a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c9d1a694e9497d" /><Relationship Type="http://schemas.openxmlformats.org/officeDocument/2006/relationships/image" Target="/ppt/media/image.png" Id="Rc9dca8ea1be04df2" /><Relationship Type="http://schemas.openxmlformats.org/officeDocument/2006/relationships/notesSlide" Target="/ppt/notesSlides/notesSlide1.xml" Id="R4c6d1046f73142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327c82dbed460a" /><Relationship Type="http://schemas.openxmlformats.org/officeDocument/2006/relationships/notesSlide" Target="/ppt/notesSlides/notesSlide2.xml" Id="R6ed994c6902440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9a97a78d84c59" /><Relationship Type="http://schemas.openxmlformats.org/officeDocument/2006/relationships/notesSlide" Target="/ppt/notesSlides/notesSlide3.xml" Id="Rf70c92dcaf334c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17711c143a440c" /><Relationship Type="http://schemas.openxmlformats.org/officeDocument/2006/relationships/image" Target="/ppt/media/image2.png" Id="Rf9f26810e13741bd" /><Relationship Type="http://schemas.openxmlformats.org/officeDocument/2006/relationships/notesSlide" Target="/ppt/notesSlides/notesSlide4.xml" Id="Rd649aee1d3364e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1d4b962fda4f4a" /><Relationship Type="http://schemas.openxmlformats.org/officeDocument/2006/relationships/notesSlide" Target="/ppt/notesSlides/notesSlide5.xml" Id="Rdea85b67b68340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640fad1ee4b5c" /><Relationship Type="http://schemas.openxmlformats.org/officeDocument/2006/relationships/image" Target="/ppt/media/image3.png" Id="R2d8297a395134e44" /><Relationship Type="http://schemas.openxmlformats.org/officeDocument/2006/relationships/notesSlide" Target="/ppt/notesSlides/notesSlide6.xml" Id="Re1ea8c685a4d44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01dae3b384e1b" /><Relationship Type="http://schemas.openxmlformats.org/officeDocument/2006/relationships/notesSlide" Target="/ppt/notesSlides/notesSlide7.xml" Id="Rccc5362b0e3445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20c951db540c8" /><Relationship Type="http://schemas.openxmlformats.org/officeDocument/2006/relationships/chart" Target="/ppt/slides/charts/chart1.xml" Id="Reeae6534d00b45ed" /><Relationship Type="http://schemas.openxmlformats.org/officeDocument/2006/relationships/chart" Target="/ppt/slides/charts/chart2.xml" Id="Rcd18bba29eda4957" /><Relationship Type="http://schemas.openxmlformats.org/officeDocument/2006/relationships/notesSlide" Target="/ppt/notesSlides/notesSlide8.xml" Id="R49bac390096b47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c853d5de2647e5" /><Relationship Type="http://schemas.openxmlformats.org/officeDocument/2006/relationships/image" Target="/ppt/media/image4.png" Id="Red427ea70f5d4e52" /><Relationship Type="http://schemas.openxmlformats.org/officeDocument/2006/relationships/chart" Target="/ppt/slides/charts/chart3.xml" Id="R40199fcb775e4e65" /><Relationship Type="http://schemas.openxmlformats.org/officeDocument/2006/relationships/notesSlide" Target="/ppt/notesSlides/notesSlide9.xml" Id="Ra1b35d745d5d4d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f13f8399e44be" /><Relationship Type="http://schemas.openxmlformats.org/officeDocument/2006/relationships/chart" Target="/ppt/slides/charts/chart4.xml" Id="R07279b33d19b4d8c" /><Relationship Type="http://schemas.openxmlformats.org/officeDocument/2006/relationships/notesSlide" Target="/ppt/notesSlides/notesSlide10.xml" Id="R763e0eb0e5f545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9fe0a943544c2" /><Relationship Type="http://schemas.openxmlformats.org/officeDocument/2006/relationships/image" Target="/ppt/media/image5.png" Id="R18926462a17d461a" /><Relationship Type="http://schemas.openxmlformats.org/officeDocument/2006/relationships/notesSlide" Target="/ppt/notesSlides/notesSlide11.xml" Id="Reb72c761cb654d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31fc3029b4bd7" /><Relationship Type="http://schemas.openxmlformats.org/officeDocument/2006/relationships/notesSlide" Target="/ppt/notesSlides/notesSlide12.xml" Id="R746ef47d7c9c4e25" /></Relationships>
</file>

<file path=ppt/slides/charts/chart1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FFF"/>
      </a:solidFill>
      <a:ln xmlns:a="http://schemas.openxmlformats.org/drawingml/2006/main" w="0">
        <a:solidFill>
          <a:srgbClr val="FFFFFF"/>
        </a:solidFill>
        <a:prstDash val="solid"/>
      </a:ln>
    </c:spPr>
    <c:plotArea>
      <c:layout/>
      <c:barChart>
        <c:barDir val="col"/>
        <c:grouping val="clustered"/>
        <c:varyColors val="0"/>
        <c:ser>
          <c:idx val="0"/>
          <c:order val="0"/>
          <c:tx>
            <c:v>RMSE（越低越好）</c:v>
          </c:tx>
          <c:spPr>
            <a:solidFill xmlns:a="http://schemas.openxmlformats.org/drawingml/2006/main">
              <a:srgbClr val="0E7C7B"/>
            </a:solidFill>
            <a:ln xmlns:a="http://schemas.openxmlformats.org/drawingml/2006/main" w="9525">
              <a:solidFill>
                <a:srgbClr val="0E7C7B"/>
              </a:solidFill>
              <a:prstDash val="solid"/>
            </a:ln>
          </c:spPr>
          <c:cat>
            <c:strLit>
              <c:ptCount val="4"/>
              <c:pt idx="0">
                <c:v>iTransformer</c:v>
              </c:pt>
              <c:pt idx="1">
                <c:v>ARIMA</c:v>
              </c:pt>
              <c:pt idx="2">
                <c:v>DLinear</c:v>
              </c:pt>
              <c:pt idx="3">
                <c:v>LSTM</c:v>
              </c:pt>
            </c:strLit>
          </c:cat>
          <c:val>
            <c:numLit>
              <c:formatCode>0.000</c:formatCode>
              <c:ptCount val="4"/>
              <c:pt idx="0">
                <c:v>0.772</c:v>
              </c:pt>
              <c:pt idx="1">
                <c:v>0.98</c:v>
              </c:pt>
              <c:pt idx="2">
                <c:v>1.031</c:v>
              </c:pt>
              <c:pt idx="3">
                <c:v>1.366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B6472"/>
                    </a:solidFill>
                  </a:rPr>
                  <a:t>RMSE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B6472"/>
                  </a:solidFill>
                </a:defRPr>
              </a:pPr>
            </a:p>
          </c:txPr>
        </c:title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FFF"/>
      </a:solidFill>
      <a:ln xmlns:a="http://schemas.openxmlformats.org/drawingml/2006/main" w="0">
        <a:solidFill>
          <a:srgbClr val="FFFFFF"/>
        </a:solidFill>
        <a:prstDash val="solid"/>
      </a:ln>
    </c:spPr>
    <c:plotArea>
      <c:layout/>
      <c:barChart>
        <c:barDir val="col"/>
        <c:grouping val="clustered"/>
        <c:varyColors val="0"/>
        <c:ser>
          <c:idx val="0"/>
          <c:order val="0"/>
          <c:tx>
            <c:v>R2（越高越好）</c:v>
          </c:tx>
          <c:spPr>
            <a:solidFill xmlns:a="http://schemas.openxmlformats.org/drawingml/2006/main">
              <a:srgbClr val="2E9E62"/>
            </a:solidFill>
            <a:ln xmlns:a="http://schemas.openxmlformats.org/drawingml/2006/main" w="9525">
              <a:solidFill>
                <a:srgbClr val="2E9E62"/>
              </a:solidFill>
              <a:prstDash val="solid"/>
            </a:ln>
          </c:spPr>
          <c:cat>
            <c:strLit>
              <c:ptCount val="4"/>
              <c:pt idx="0">
                <c:v>iTransformer</c:v>
              </c:pt>
              <c:pt idx="1">
                <c:v>ARIMA</c:v>
              </c:pt>
              <c:pt idx="2">
                <c:v>DLinear</c:v>
              </c:pt>
              <c:pt idx="3">
                <c:v>LSTM</c:v>
              </c:pt>
            </c:strLit>
          </c:cat>
          <c:val>
            <c:numLit>
              <c:formatCode>0.000</c:formatCode>
              <c:ptCount val="4"/>
              <c:pt idx="0">
                <c:v>0.538</c:v>
              </c:pt>
              <c:pt idx="1">
                <c:v>0.45</c:v>
              </c:pt>
              <c:pt idx="2">
                <c:v>0.176</c:v>
              </c:pt>
              <c:pt idx="3">
                <c:v>-0.444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B6472"/>
                    </a:solidFill>
                  </a:rPr>
                  <a:t>R2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B6472"/>
                  </a:solidFill>
                </a:defRPr>
              </a:pPr>
            </a:p>
          </c:txPr>
        </c:title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FFF"/>
      </a:solidFill>
      <a:ln xmlns:a="http://schemas.openxmlformats.org/drawingml/2006/main" w="0">
        <a:solidFill>
          <a:srgbClr val="FFFFFF"/>
        </a:solidFill>
        <a:prstDash val="solid"/>
      </a:ln>
    </c:spPr>
    <c:plotArea>
      <c:layout/>
      <c:lineChart>
        <c:ser>
          <c:idx val="0"/>
          <c:order val="0"/>
          <c:tx>
            <c:v>RMSE</c:v>
          </c:tx>
          <c:spPr>
            <a:solidFill xmlns:a="http://schemas.openxmlformats.org/drawingml/2006/main">
              <a:srgbClr val="0E7C7B"/>
            </a:solidFill>
            <a:ln xmlns:a="http://schemas.openxmlformats.org/drawingml/2006/main" w="23813">
              <a:solidFill>
                <a:srgbClr val="0E7C7B"/>
              </a:solidFill>
              <a:prstDash val="solid"/>
            </a:ln>
          </c:spPr>
          <c:cat>
            <c:strLit>
              <c:ptCount val="4"/>
              <c:pt idx="0">
                <c:v>H1</c:v>
              </c:pt>
              <c:pt idx="1">
                <c:v>H2</c:v>
              </c:pt>
              <c:pt idx="2">
                <c:v>H3</c:v>
              </c:pt>
              <c:pt idx="3">
                <c:v>H4</c:v>
              </c:pt>
            </c:strLit>
          </c:cat>
          <c:val>
            <c:numLit>
              <c:formatCode>0.000</c:formatCode>
              <c:ptCount val="4"/>
              <c:pt idx="0">
                <c:v>0.525</c:v>
              </c:pt>
              <c:pt idx="1">
                <c:v>0.676</c:v>
              </c:pt>
              <c:pt idx="2">
                <c:v>0.828</c:v>
              </c:pt>
              <c:pt idx="3">
                <c:v>0.983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/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FFF"/>
      </a:solidFill>
      <a:ln xmlns:a="http://schemas.openxmlformats.org/drawingml/2006/main" w="0">
        <a:solidFill>
          <a:srgbClr val="FFFFFF"/>
        </a:solidFill>
        <a:prstDash val="solid"/>
      </a:ln>
    </c:spPr>
    <c:plotArea>
      <c:layout/>
      <c:barChart>
        <c:barDir val="col"/>
        <c:grouping val="clustered"/>
        <c:varyColors val="0"/>
        <c:ser>
          <c:idx val="0"/>
          <c:order val="0"/>
          <c:tx>
            <c:v>不同特征组合 RMSE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9525">
              <a:solidFill>
                <a:srgbClr val="2563EB"/>
              </a:solidFill>
              <a:prstDash val="solid"/>
            </a:ln>
          </c:spPr>
          <c:cat>
            <c:strLit>
              <c:ptCount val="4"/>
              <c:pt idx="0">
                <c:v>仅流感历史</c:v>
              </c:pt>
              <c:pt idx="1">
                <c:v>流感+气象</c:v>
              </c:pt>
              <c:pt idx="2">
                <c:v>三源融合</c:v>
              </c:pt>
              <c:pt idx="3">
                <c:v>流感+搜索</c:v>
              </c:pt>
            </c:strLit>
          </c:cat>
          <c:val>
            <c:numLit>
              <c:formatCode>0.000</c:formatCode>
              <c:ptCount val="4"/>
              <c:pt idx="0">
                <c:v>0.761</c:v>
              </c:pt>
              <c:pt idx="1">
                <c:v>0.767</c:v>
              </c:pt>
              <c:pt idx="2">
                <c:v>0.77</c:v>
              </c:pt>
              <c:pt idx="3">
                <c:v>0.788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827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title>
          <c:overlay val="0"/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5B6472"/>
                    </a:solidFill>
                  </a:rPr>
                  <a:t>RMSE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5B6472"/>
                  </a:solidFill>
                </a:defRPr>
              </a:pPr>
            </a:p>
          </c:txPr>
        </c:title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F246706-6183-48BD-B3E6-CC5F67C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ca8ea1be04df2"/>
          <a:srcRect xmlns:a="http://schemas.openxmlformats.org/drawingml/2006/main" l="0" t="16741" r="0" b="16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334000"/>
            <a:ext cx="18288000" cy="3067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6A521-EBE8-45D9-A7A9-E801585E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67700"/>
            <a:ext cx="18288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1F835-6F4A-4A11-A01A-480AE8D1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19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A5D60"/>
                </a:solidFill>
              </a:defRPr>
            </a:pPr>
            <a:r>
              <a:t>基于深度学习和多元数据的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7D01E-0F4B-4E7B-800F-C52C8F8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11827"/>
                </a:solidFill>
              </a:defRPr>
            </a:pPr>
            <a:r>
              <a:t>流感爆发趋势预测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8C5E9-8D1D-4BBA-88EE-A87B3A2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3848100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E85D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D7991-A35E-4E97-9C57-90B8A46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5B6472"/>
                </a:solidFill>
              </a:defRPr>
            </a:pPr>
            <a:r>
              <a:t>本科毕业设计答辩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68B4E-2189-4726-8BE2-67A983A6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国家流感中心北方省份周度 ILI% · 气象数据 · 百度指数 · iTransformer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070E7-9B0F-478A-81BF-50F455FA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5915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t>学生：张宇鑫  |  学号：22090032057  |  指导教师：刘艳艳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7C0CA-A621-4529-8CE0-6E683371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02970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中国海洋大学 信息科学与工程学部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计算机科学与技术 2022级 · 2026年5月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FBD94-BDA0-4482-9A11-B7ED63BC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5240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E7C7B"/>
                </a:solidFill>
              </a:defRPr>
            </a:pPr>
            <a:r>
              <a:t>16周输入</a:t>
            </a:r>
          </a:p>
          <a:p xmlns:a="http://schemas.openxmlformats.org/drawingml/2006/main">
            <a:pPr algn="ctr">
              <a:defRPr sz="2550" b="1" i="0">
                <a:solidFill>
                  <a:srgbClr val="0E7C7B"/>
                </a:solidFill>
              </a:defRPr>
            </a:pPr>
            <a:r>
              <a:t>预测未来4周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86785-D865-44E4-8E71-A338655C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8956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7D62D-89A7-4EAE-BA33-0CDD0C25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27660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827"/>
                </a:solidFill>
              </a:defRPr>
            </a:pPr>
            <a:r>
              <a:t>真实公开数据</a:t>
            </a:r>
          </a:p>
          <a:p xmlns:a="http://schemas.openxmlformats.org/drawingml/2006/main">
            <a:pPr algn="ctr">
              <a:defRPr sz="1875" b="1" i="0">
                <a:solidFill>
                  <a:srgbClr val="111827"/>
                </a:solidFill>
              </a:defRPr>
            </a:pPr>
            <a:r>
              <a:t>严格时间切分</a:t>
            </a:r>
          </a:p>
          <a:p xmlns:a="http://schemas.openxmlformats.org/drawingml/2006/main">
            <a:pPr algn="ctr">
              <a:defRPr sz="1875" b="1" i="0">
                <a:solidFill>
                  <a:srgbClr val="111827"/>
                </a:solidFill>
              </a:defRPr>
            </a:pPr>
            <a:r>
              <a:t>可复现工程链路</a:t>
            </a:r>
          </a:p>
        </p:txBody>
      </p:sp>
    </p:spTree>
    <p:extLst>
      <p:ext uri="{BB962C8B-B14F-4D97-AF65-F5344CB8AC3E}">
        <p14:creationId xmlns:p14="http://schemas.microsoft.com/office/powerpoint/2010/main" val="97934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2091C8D-167C-40C8-8197-2BAFA4C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3DA857E-6F71-4E4D-A241-16958162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研究背景与目标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81B6628E-7119-4E1B-917E-F5A5A5F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从被动监测走向提前 1-4 周的趋势预警</a:t>
            </a:r>
          </a:p>
        </p:txBody>
      </p:sp>
      <p:sp>
        <p:nvSpPr>
          <p:cNvPr id="4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96DF258F-723A-4CEA-93F2-63776E6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83B62-E596-49A6-8E99-067A9E6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07A6D-21BD-4F9E-9AA9-67DD3B8B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85D4A"/>
                </a:solidFill>
              </a:defRPr>
            </a:pPr>
            <a: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2929C-A3AE-47D9-ADFD-8AB7DF20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5D4A"/>
                </a:solidFill>
              </a:defRPr>
            </a:pPr>
            <a:r>
              <a:t>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E7A1D-9D34-467F-8481-94785F3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预测窗口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7DE28-7B68-4A7A-8F41-79FA595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E7C7B"/>
                </a:solidFill>
              </a:defRPr>
            </a:pPr>
            <a: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4BB7E-C2DC-4A68-831E-E5423A5E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7C7B"/>
                </a:solidFill>
              </a:defRPr>
            </a:pPr>
            <a:r>
              <a:t>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7C123-C12E-4E0F-819B-25DC13B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输入历史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E0910-8864-4EF9-9387-319EE73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19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563EB"/>
                </a:solidFill>
              </a:defRPr>
            </a:pPr>
            <a:r>
              <a:t>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F8053-9392-436A-B6DD-3E93F93B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86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63EB"/>
                </a:solidFill>
              </a:defRPr>
            </a:pPr>
            <a:r>
              <a:t>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55E78-7E9D-4CA9-B697-C8D2EDDC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建模特征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5F318-D6BF-42E9-9A17-7454ABD4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BDE3-9432-470F-8CAC-5C4CD85C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现实问题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69B28-BD57-4241-A4C4-35D1F61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流感具有季节性与非线性高峰，单一监测序列往往存在滞后，难以及时支撑医疗资源调度。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AEE6C-16D3-4B3C-B284-23A21EDF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007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5AA10-185A-439A-B084-319AC35B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研究目标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0C4E3-BE0F-4E21-823E-7D968E8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246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融合流感监测、气象环境和搜索行为数据，构建可复现的周度趋势预测系统。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92DEE-4FE3-4A1A-B85D-BB346867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104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4148A-FE5E-4CF6-8A48-43B51416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152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答辩重点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1DB24-B0D9-4809-A268-40A11780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343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说明数据可信、模型合理、实验可复现，以及结论边界不外推到单一城市病例数。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DE436-2287-4BF2-B3F2-178A443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19350"/>
            <a:ext cx="5524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C6E3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EC0FEC-42E4-4430-932D-65409E2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5D60"/>
                </a:solidFill>
              </a:defRPr>
            </a:pPr>
            <a:r>
              <a:t>核心问题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B3102-0DED-4A26-AF35-BCBF28C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33800"/>
            <a:ext cx="4267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t>如何在真实周度公共卫生数据上，利用外部环境与行为信号，提前判断未来流感活动变化？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30CD8-0180-429E-8331-E01E32CB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10250"/>
            <a:ext cx="3390900" cy="952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0E7C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044B6-573C-4010-AC89-59E1493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103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472"/>
                </a:solidFill>
              </a:defRPr>
            </a:pPr>
            <a:r>
              <a:t>输出形式：预测曲线、模型指标、消融解释、Web 展示原型。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8690BD-617A-4592-A3F8-B7A42F54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138CFA3-7338-4608-92C7-0804F4CD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资料来源：项目 README、毕业论文修订核验版、开题报告与 results/reports 实验报告。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7CEC03-484A-4EFA-AFF8-BC669478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9691244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05C1CDF-99A2-42CF-8420-08DD83FD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D01A1A2-E8E9-41F2-AB99-12B12B4A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数据来源与研究口径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92774107-3E61-4523-98C3-AEC52F9D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正式实验使用国家流感中心北方省份真实周度 ILI% 序列</a:t>
            </a:r>
          </a:p>
        </p:txBody>
      </p:sp>
      <p:sp>
        <p:nvSpPr>
          <p:cNvPr id="4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ADC3DEB0-E480-4704-AD03-AB3ED55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D2170-AF6D-4947-B15E-FDA45E0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6E16C-5757-44DB-AADD-40C06240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257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2AE75-FA0A-424F-9905-56461878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62200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数据类型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47120-9428-4639-9809-9B8CE9A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来源 / 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9D96C-D543-40C7-B20F-6DD3DBE2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9525" cy="3429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EF09D-5650-4654-8518-DE959614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B2677-C9FA-420E-9E94-B35FB36C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9525" cy="3429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1B864-24A2-4DA7-B779-E531F913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622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建模作用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8EC1D-40C7-4978-80E6-7F0CCB5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47900"/>
            <a:ext cx="9525" cy="3429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28EB0-E4CF-4BE7-BDBB-E69152DA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1257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9183D-F643-467B-9F59-C2973D6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3847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流感监测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DAF22-1322-4E4B-AD9B-B9916206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38475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中国国家流感中心周报，北方省份 ILI%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000DC-E247-4ADF-8EFD-70C9FC44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384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849周；2010-01-04 至 2026-04-13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9D4F3-D76E-42DC-AD49-EA7E4D39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384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预测目标 ili_rate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5D07C-8C71-40B5-A2C9-F817439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257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CFF36-9764-4440-B6B4-8E48BF81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2427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气象环境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860B6-9909-4EEB-A6B0-E442D16C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24275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Open-Meteo Archive，8个北方代表城市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9BAA2-FE13-46A8-8BD7-E824E078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242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5594天；2011-01-01 至 2026-04-25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584F2-08C7-45D8-BA02-D04061B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7242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温度、湿度、风速、气压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1D4CE-8580-47EA-81E1-3FA6F82D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1257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B4BAB-4F6E-4B37-BD56-6B3E257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007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搜索行为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DE1B9-9CF7-4F8E-8A43-DBC0DB3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10075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百度指数，流感/感冒/发烧关键词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14199-CD52-4D54-B9FC-46E1976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100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5593天；2011-01-01 至 2026-04-24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1F6A81-36AF-4CC7-A8EE-40780E64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4100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公众关注度外生变量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4C9D9D-442F-49C2-9446-8E9007FF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1257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82E036-3891-431D-AC1C-33A47A81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95875"/>
            <a:ext cx="139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周度融合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C95DB6-ACB8-48DA-879B-7526B85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95875"/>
            <a:ext cx="38671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按 ISO 周对齐并特征工程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0B545-BF7B-4A2D-A599-3D5480A3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958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797周融合；793周进入切分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4BB59C-1E28-4E13-A9A0-317377D3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09587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训练、验证、测试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FAB28-F6DC-468E-9238-9EF8AB4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333625"/>
            <a:ext cx="2609850" cy="2609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19050">
            <a:solidFill>
              <a:srgbClr val="C6E3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153D3F-DA92-4200-A881-F06288E7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952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A5D60"/>
                </a:solidFill>
              </a:defRPr>
            </a:pPr>
            <a:r>
              <a:t>北方省份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474443-E6B6-433F-BB9A-92021625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543300"/>
            <a:ext cx="196215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827"/>
                </a:solidFill>
              </a:defRPr>
            </a:pPr>
            <a:r>
              <a:t>公开可追溯</a:t>
            </a:r>
          </a:p>
          <a:p xmlns:a="http://schemas.openxmlformats.org/drawingml/2006/main">
            <a:pPr algn="ctr">
              <a:defRPr sz="2100" b="1" i="0">
                <a:solidFill>
                  <a:srgbClr val="111827"/>
                </a:solidFill>
              </a:defRPr>
            </a:pPr>
            <a:r>
              <a:t>周度监测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D5D48A-559E-4E9D-BD15-A6A1230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581650"/>
            <a:ext cx="2628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5D4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D5F63B-8E8A-4ACA-8451-1184624C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638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不再使用平谷代理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4306DD-964B-4E2D-BFC4-1C1AFB97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172200"/>
            <a:ext cx="2628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7C7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E6F89-059B-44AE-B768-971A6A5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229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不使用模拟目标序列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81259-7ACF-4E65-973F-39D7E7F1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762750"/>
            <a:ext cx="2628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A6CFFA-951F-45B7-BFDB-A023830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8199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不外推为病例数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846055-F8A7-45CA-A0AA-039B73A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C6A36CA-FD6C-434C-A856-7377791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资料来源：README、final_data_audit.md、毕业论文第2章。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809641-BE88-4576-8FD6-6EA6B61E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0932031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6E9DA83-7638-4746-AD3F-676FD72D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6FAD2A3-FA20-44E2-B972-84EED8CB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数据处理与质量审计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8B7EE8AC-A1B8-4B0C-8323-41DE363B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从原始采集留痕到严格时序切分，降低数据泄漏风险</a:t>
            </a:r>
          </a:p>
        </p:txBody>
      </p:sp>
      <p:sp>
        <p:nvSpPr>
          <p:cNvPr id="4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6E161ECE-F81A-4B7E-BFBA-8339FCC5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ED235-9CE2-43A4-9376-27820353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26810e13741bd"/>
          <a:stretch xmlns:a="http://schemas.openxmlformats.org/drawingml/2006/main"/>
        </p:blipFill>
        <p:spPr>
          <a:xfrm xmlns:a="http://schemas.openxmlformats.org/drawingml/2006/main">
            <a:off x="1047750" y="2270125"/>
            <a:ext cx="10858500" cy="4584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C957A-AE10-4A49-B834-B670561A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3431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E7C7B"/>
                </a:solidFill>
              </a:defRPr>
            </a:pPr>
            <a: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B97C3-B0FB-494F-816F-7967EF04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7C7B"/>
                </a:solidFill>
              </a:defRPr>
            </a:pPr>
            <a:r>
              <a:t>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8782C-84D5-4FAD-AECA-9432EB51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086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ili_rate 剩余缺失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F70CF-770B-4716-B362-097B390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7909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85D4A"/>
                </a:solidFill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9D280-E427-46A5-B5DA-47C80E40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4057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5D4A"/>
                </a:solidFill>
              </a:defRPr>
            </a:pPr>
            <a:r>
              <a:t>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81931-C5FF-48DE-83DF-E6A54A8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有来源补齐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C9022-D94D-47E9-B1A2-1D42AA8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387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563EB"/>
                </a:solidFill>
              </a:defRPr>
            </a:pPr>
            <a:r>
              <a:t>108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568B0-23DB-47A7-BE97-ABAAB18D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505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63EB"/>
                </a:solidFill>
              </a:defRPr>
            </a:pPr>
            <a:r>
              <a:t>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162AF-EE43-49DF-9216-CE1D4465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98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positive_rate 审计补齐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04987-C345-40FD-B815-2E5527F1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485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FBD94-B2A0-4D9A-9537-1B4C690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53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质量策略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177D7-DF05-418E-9D3A-64B827DF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724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source_manifest.json 记录来源，data_quality_report.json 复核行数、缺失、重复日期与时间边界。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3CEB6-B194-4A8F-AEBB-337807AD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74485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2A284-F278-441E-968F-F6C21D6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353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边界说明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353FB-EB55-43B7-B37F-C71699F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7724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positive_rate 仅作为原始监测留痕字段，默认不进入训练特征，避免不稳定 PDF 解析影响模型。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499AF-464A-4158-999F-651E7B8E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82FE0E8-9780-403B-BDF4-892B7F2C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资料来源：final_data_audit.md、data_quality_report.json、论文第2章。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9C5E5-B4ED-4B0F-92FA-660B3DB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6832604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56A826D-BAC8-4138-A406-361847AA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DD3FB55-4823-4A40-9FC8-9801559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预测任务与特征设计</a:t>
            </a:r>
          </a:p>
        </p:txBody>
      </p:sp>
      <p:sp>
        <p:nvSpPr>
          <p:cNvPr id="3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96AD3436-3F67-4D34-97E9-1C706BCA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用过去 16 周多源变量预测未来 4 周 ILI%</a:t>
            </a:r>
          </a:p>
        </p:txBody>
      </p:sp>
      <p:sp>
        <p:nvSpPr>
          <p:cNvPr id="4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48F923B1-FD55-4883-95AA-E2B2C998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1BBFD-3F45-4148-8C5E-5E1D7D67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E9ED6-EB5A-4CA5-8C80-720FA15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609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CD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06DAB-A3DA-4E93-8FCD-6AFDC0DC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86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563EB"/>
                </a:solidFill>
              </a:defRPr>
            </a:pPr>
            <a:r>
              <a:t>输入窗口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13BDC-70FB-4CA4-8216-C2FD42E9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6235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827"/>
                </a:solidFill>
              </a:defRPr>
            </a:pPr>
            <a:r>
              <a:t>过去 16 周 × 29 个特征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CF542-05F5-4C9A-9DD0-FD76EF3F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2667000" cy="9525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0E7C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AFEE4-4B03-4ABD-9CFA-BA30911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19450"/>
            <a:ext cx="495300" cy="495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74EB6-8D3C-484E-BC89-006A0F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0"/>
            <a:ext cx="6096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FD4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18818-190E-4CCC-8FFA-3FADC700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086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85D4A"/>
                </a:solidFill>
              </a:defRPr>
            </a:pPr>
            <a:r>
              <a:t>输出目标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D6E78-A7B4-4D87-949B-A9A01D3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56235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827"/>
                </a:solidFill>
              </a:defRPr>
            </a:pPr>
            <a:r>
              <a:t>未来 1-4 周 ILI%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E2287-544B-4FAA-A7B3-F089543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65280-D1FE-41FF-B91B-2A32D5A4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63EB"/>
                </a:solidFill>
              </a:defRPr>
            </a:pPr>
            <a:r>
              <a:t>特征组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0BB89-E5A9-4735-B124-AEE4B3D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6255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63EB"/>
                </a:solidFill>
              </a:defRPr>
            </a:pPr>
            <a:r>
              <a:t>代表变量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5E1F6-05B4-44A4-ADC1-06917BC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0"/>
            <a:ext cx="9525" cy="31432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5A34E-819F-464B-ABCD-3D9BA0FC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162550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563EB"/>
                </a:solidFill>
              </a:defRPr>
            </a:pPr>
            <a:r>
              <a:t>设计目的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F4E10-BBA5-46AE-A4B3-F1919F9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9525" cy="31432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3A0B3-B7D6-4B55-9C05-26B27BB5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9F86E-D7EB-4F0A-B888-44360B7D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7816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t>流感历史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A85D4-7488-4A43-ACFD-A94CEE88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816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ili_rate、1/2/4周滞后、4/8周滚动统计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796A4-1266-44B4-BD38-6E2BA808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816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捕捉自相关与季节高峰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2D075-17F5-4D5B-B3EA-D78E0EB6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A61CA-DDC3-4D62-898F-33C6F8A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103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t>气象环境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21E0F-AAFE-469A-ACE7-15F48CA4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4103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温度、湿度、风速、气压、体感/交互项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83DD6-131C-4D0A-9046-1ADC5F79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4103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引入环境变化背景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5F41B-F5E8-48AC-8CA9-7D58CDC5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93420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70927-B15A-4D4A-AA81-B99B98B2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3897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t>搜索行为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F8CE96-B4C1-46B9-9319-46F45CA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0389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流感、感冒、发烧搜索指数及变化率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443C2D-299D-4DD1-A01D-9631EECB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03897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反映公众关注度变化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85CCD-4387-4606-9605-DEA9E97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62850"/>
            <a:ext cx="15240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CC749-8C17-41B5-A2B1-A0FA7547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6676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827"/>
                </a:solidFill>
              </a:defRPr>
            </a:pPr>
            <a:r>
              <a:t>时间特征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584DF8-9623-443F-9EF9-BBDC2A4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676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week/month 周期编码、流感季标记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F5998-A43E-405B-861D-E788FEC2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7667625"/>
            <a:ext cx="634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t>表达周期性和季节性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F2B2B-37A3-4D0B-B7B3-CC41C76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06D64E39-CE17-495D-9A31-A9F25379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资料来源：experiment_summary.json、config/config.yaml、论文第2.3节。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C22A59-9F76-4DAD-9C3E-8E1E6795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2799881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F1E7BDC-157B-4F65-BB02-6F900A64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0276143-D133-4BA5-B83E-9EB4B203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模型与系统设计</a:t>
            </a:r>
          </a:p>
        </p:txBody>
      </p:sp>
      <p:sp>
        <p:nvSpPr>
          <p:cNvPr id="3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7E583C6C-5BC3-4BE9-91F0-5F2FBEC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iTransformer 建模跨变量关系，工程链路覆盖采集、训练、评估和展示</a:t>
            </a:r>
          </a:p>
        </p:txBody>
      </p:sp>
      <p:sp>
        <p:nvSpPr>
          <p:cNvPr id="4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FE4C10BB-BBB1-4B73-AD82-89FD3E8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5D555-D51A-4DC2-AB23-99CAD266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75B9F-1ADF-4FFF-B9AA-512576EA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5D60"/>
                </a:solidFill>
              </a:defRPr>
            </a:pPr>
            <a:r>
              <a:t>iTransformer 的关键变化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3D791-0B8C-4762-9F35-9A120831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C3457-A541-46EF-96E5-C3185CC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变量作为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42702-5440-48B8-AD9D-1B7E57A5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766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将每个变量的历史窗口序列作为一个 token，在变量维度计算注意力。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E44A5-D0D9-4434-8598-C7A7A066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AE749-C18B-40F7-A19B-5D977FF9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48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目标 token 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BA53B-3A7A-4434-B641-4E276CA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学习流感历史、气象与搜索行为之间的关联后，映射为未来 4 周预测。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D9716-7EAA-4A28-A65D-7135D73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340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61805-F9DF-43A0-A9A4-C4E26B32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基准模型对照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90D4C-A34F-42B5-A516-E258813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5790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设置 LSTM、DLinear、ARIMA，分别代表循环网络、线性分解与传统统计方法。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297a395134e44"/>
          <a:stretch xmlns:a="http://schemas.openxmlformats.org/drawingml/2006/main"/>
        </p:blipFill>
        <p:spPr>
          <a:xfrm xmlns:a="http://schemas.openxmlformats.org/drawingml/2006/main">
            <a:off x="8026066" y="2362200"/>
            <a:ext cx="8617618" cy="3638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5DF6B-74F7-4318-8B04-2FF2753E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722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6A36E-B675-4B4A-B06E-0123B5A0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68655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层次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04034-F9BA-4853-83D4-30D536C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686550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项目实现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EBBBC-7A28-4C28-8AB2-8AC84EA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72250"/>
            <a:ext cx="9525" cy="2667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9BF46-9348-4AB6-8E9B-31BA4AC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1056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1ABF2-4B25-4BBD-A7C5-B450E99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2104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数据层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263BD-7531-4225-9A7C-7091DA13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2104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CSV / source_manifest.json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72F7F-FD23-488D-B52E-40C1303E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390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A3493-F07B-4654-9A58-F650A94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7438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处理层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96AB1-C13D-4A34-8D8D-B883D6BC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7438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清洗、周聚合、特征工程、切分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83C2B2-EBE2-470D-8C40-B1A2CB8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724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897F2-1909-4890-8385-1876EA8E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2772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模型层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E9BDB-4CEB-4706-90ED-3F3F9449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2772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iTransformer + 基准模型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3F0D8-C298-4DB4-AE33-4FB46D94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058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4CA66-6F53-43C3-A48E-F7B4541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810625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展示层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E1B82-58A4-4E13-9FF5-DC36E8C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8106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Streamlit Web 原型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B4F330-C397-4A0E-9E02-6D812EC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DAA1FE3-01CF-4D13-B569-F0D7DE0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资料来源：src/models/itransformer.py、scripts/train.py、web/app.py、论文第3章与第5章。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3EF19-CCC0-4E27-B879-F6B27F5F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21099918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B57D8B3-450C-497C-81ED-45A77030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B45FBC8-20F9-49EE-8450-7A8A1871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实验设计</a:t>
            </a:r>
          </a:p>
        </p:txBody>
      </p:sp>
      <p:sp>
        <p:nvSpPr>
          <p:cNvPr id="3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19036290-4FDD-42E5-874A-983C1A4D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按时间顺序切分，避免未来信息进入训练</a:t>
            </a:r>
          </a:p>
        </p:txBody>
      </p:sp>
      <p:sp>
        <p:nvSpPr>
          <p:cNvPr id="4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489A0B7F-361F-40AA-9518-9706B5E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BC5DB-E6A2-485B-8606-D4DFBDE2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D4A47-4313-4EDC-BE96-E943D8E9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CEBC8-F138-47DC-AD85-FB92196C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43250"/>
            <a:ext cx="1885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89053-342B-4FEE-BEF3-3D047919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43250"/>
            <a:ext cx="1924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D6244-3AC4-431B-8A17-4951C281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95650"/>
            <a:ext cx="822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t>训练集 555行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t>2011-01-31 至 2021-09-20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3CD8C-DCE2-4097-A47D-0A02A22C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验证集 119行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2021-09-27 至 2024-01-01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34716-4102-4FFF-ACBB-2ACFE1C8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956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测试集 119行</a:t>
            </a:r>
          </a:p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t>2024-01-08 至 2026-04-13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86CBD-52DB-44C6-9133-8D608B5F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1257300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CBC4C-D92B-4D33-B4F6-9A967619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t>2011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6EB8F-2DE2-4965-A9B2-EFAEFD9D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52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t>2021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DCE6E-EDAD-4D1D-BC66-149B519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4552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472"/>
                </a:solidFill>
              </a:defRPr>
            </a:pPr>
            <a:r>
              <a:t>2024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7E10F-E17C-41D8-A274-348D592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4552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B6472"/>
                </a:solidFill>
              </a:defRPr>
            </a:pPr>
            <a:r>
              <a:t>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50621-0176-485B-8EA2-0EDC2E2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19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BC5D4-7B3D-45E9-ACCA-F807EC5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563EB"/>
                </a:solidFill>
              </a:defRPr>
            </a:pPr>
            <a:r>
              <a:t>训练配置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B2637-AE50-4F2F-A5A8-4DA404A6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34050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563EB"/>
                </a:solidFill>
              </a:defRPr>
            </a:pPr>
            <a:r>
              <a:t>取值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54ACF-0CDF-430A-ADA4-8164DBA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19750"/>
            <a:ext cx="9525" cy="27622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C637A-0689-4432-ACDE-DAA55009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72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FB98F-CC58-44CC-9A35-DC1E25D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7697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随机种子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27F46-3517-439A-88E9-96C3FF5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2769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42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176CA-B8BA-493C-ABBE-113C511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246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F66DF0-C321-4E44-914B-AA23731A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82942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最大轮数 / 早停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8FD70-3391-40F0-9C7A-46ACAD4E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82942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300 / patience=30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4A0C1-E7F5-444A-929D-DC4D7409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2771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17D88-0311-4CD0-AA09-519819BD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8187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优化器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B4965C-A00D-4CCB-9CBA-04F0A1B9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38187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Adam，学习率 0.001，权重衰减 0.01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F2BA8-3FA2-41BC-B167-91359CD7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8295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B96B5-B07A-4161-A199-3270740A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934325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评价指标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6F679-2D05-4DEA-A74A-11F9BACB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7934325"/>
            <a:ext cx="501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RMSE、MAE、MAPE、R2、峰值指标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272D1D-9546-4922-9C92-82DB8559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FD91C-49FB-48AB-82FE-38F62E2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055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实验边界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43233-F696-42DB-93FD-C132C665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246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指标用于当前北方地区真实周度监测口径下的模型比较，不作为单一城市病例数预测结论。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D768D0-79DD-4C34-8A25-2F4C8E6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D1805A4-45B0-4B4D-B6B0-4A3AC796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资料来源：experiment_summary.json、config/config.yaml、论文第4.1节。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BD6148-3541-4506-A318-DACD4A52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9745870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0A719F9-0E83-4149-9D54-A056C17D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91DAAED-8A2F-4807-A59D-7DC9B6C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模型对比结果</a:t>
            </a:r>
          </a:p>
        </p:txBody>
      </p:sp>
      <p:sp>
        <p:nvSpPr>
          <p:cNvPr id="3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E23F2957-82DE-4DCD-AA59-5011404E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iTransformer 在整体误差和解释方差上表现最好</a:t>
            </a:r>
          </a:p>
        </p:txBody>
      </p:sp>
      <p:sp>
        <p:nvSpPr>
          <p:cNvPr id="4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C82B15B8-514B-495A-ADA3-22342E1B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E08F9-27DA-497D-A0F9-AE070A9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5C393-E14A-4C94-A3E6-915CB72C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E7C7B"/>
                </a:solidFill>
              </a:defRPr>
            </a:pPr>
            <a:r>
              <a:t>0.772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1EF93-3AF7-4820-9B93-B4C73A8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7C7B"/>
                </a:solidFill>
              </a:defRPr>
            </a:pPr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E0224-E89C-4FE4-8D6E-3A144395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iTransformer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378BC-7E63-4361-B963-C84CB276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563EB"/>
                </a:solidFill>
              </a:defRPr>
            </a:pPr>
            <a:r>
              <a:t>0.491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714D5-D998-454E-9018-3369D1F8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63EB"/>
                </a:solidFill>
              </a:defRPr>
            </a:pPr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7C051-5134-473D-BF78-EA390E44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3E7BB-9FE0-4C03-8D78-0A43816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050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85D4A"/>
                </a:solidFill>
              </a:defRPr>
            </a:pPr>
            <a:r>
              <a:t>11.51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7109A-9999-40A5-A972-77998CC3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5D4A"/>
                </a:solidFill>
              </a:defRPr>
            </a:pPr>
            <a:r>
              <a:t>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FE83E-99D6-4774-80B5-7957B85A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4EE24-F5ED-4732-AE25-3C6CCF88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050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E9E62"/>
                </a:solidFill>
              </a:defRPr>
            </a:pPr>
            <a:r>
              <a:t>0.538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7748E-164F-4143-B2B3-A5B06EAC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571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E9E62"/>
                </a:solidFill>
              </a:defRPr>
            </a:pPr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05C6E-B77D-47FC-84A0-4CFE667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R²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190625" y="44386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ae6534d00b45ed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391650" y="4438650"/>
          <a:ext xmlns:a="http://schemas.openxmlformats.org/drawingml/2006/main" cx="7334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8bba29eda4957"/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DCAB9E-3B15-4455-8227-A8746FFB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686800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t>结论：当前数据版本下，iTransformer 的整体 RMSE 最低；ARIMA 在短期与峰值指标上仍有竞争力。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B8D3E-B271-4EF7-82AA-44107ABD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322E492E-6F0A-4B66-A018-4A1D65DE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资料来源：all_metrics.json、experiment_brief.md、论文第4.2节。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82C88-B929-4E52-B35C-C947B56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7811070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B91D354-195A-4513-9969-83F8BA9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0F119A2-0FDC-495A-A61F-1DC68F28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预测效果与多步误差</a:t>
            </a:r>
          </a:p>
        </p:txBody>
      </p:sp>
      <p:sp>
        <p:nvSpPr>
          <p:cNvPr id="3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02BE65AB-FE2C-405B-9C95-D5993D17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越远的预测步长不确定性越高，符合多步时间序列规律</a:t>
            </a:r>
          </a:p>
        </p:txBody>
      </p:sp>
      <p:sp>
        <p:nvSpPr>
          <p:cNvPr id="4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41817A4B-3DE0-41AF-93F9-0D4B38F6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3BFF-34E8-40A9-BD53-E14129C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27ea70f5d4e52"/>
          <a:srcRect xmlns:a="http://schemas.openxmlformats.org/drawingml/2006/main" l="0" t="3345" r="0" b="3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2114550"/>
            <a:ext cx="10344150" cy="600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3CC8B-2684-4A0C-B2F1-60FFAD89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86000"/>
            <a:ext cx="4838700" cy="25908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013FF-4C09-48F3-98DC-49910426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609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5D60"/>
                </a:solidFill>
              </a:defRPr>
            </a:pPr>
            <a:r>
              <a:t>分 Horizon 误差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2001500" y="3124200"/>
          <a:ext xmlns:a="http://schemas.openxmlformats.org/drawingml/2006/main" cx="409575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199fcb775e4e6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A7F85-02D9-403E-9876-A3E5208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E7C7B"/>
                </a:solidFill>
              </a:defRPr>
            </a:pPr>
            <a:r>
              <a:t>0.525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C4949-D3AA-44E9-8FCF-6119992F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076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E7C7B"/>
                </a:solidFill>
              </a:defRPr>
            </a:pPr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CDD96-328C-44EA-9B5F-934C272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53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H1 RMSE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CE993-82AC-4A82-9F60-E4AE7AD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58102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85D4A"/>
                </a:solidFill>
              </a:defRPr>
            </a:pPr>
            <a:r>
              <a:t>0.983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AA2D4-30A9-4C01-A89C-C7A41F4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6076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85D4A"/>
                </a:solidFill>
              </a:defRPr>
            </a:pPr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09B9F-F18F-4113-BB53-C66FFBE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53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H4 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938F5-92ED-4B3D-A705-ACFF541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23900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t>解释：第1周误差最低，预测距离增加后 RMSE 和 MAE 上升；高峰阶段仍是主要误差来源。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590A9-1F0C-41B0-8DB8-438C0AFF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4403B5C-E1F4-417C-B1A0-01652EA6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资料来源：iTransformer_predictions.png、horizon_metrics.json、论文第4.3节。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CB954-E181-4BD8-B2B7-2C5D0BA8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26520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707296D-8A1B-42A5-AEAA-C4AA93C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70FB978-D79E-475E-ACC4-BD52D2F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消融实验与解释</a:t>
            </a:r>
          </a:p>
        </p:txBody>
      </p:sp>
      <p:sp>
        <p:nvSpPr>
          <p:cNvPr id="3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679AA9E6-C3E2-4DC2-9442-35E9043C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外生变量的贡献需要结合聚合噪声和流行季背景解释</a:t>
            </a:r>
          </a:p>
        </p:txBody>
      </p:sp>
      <p:sp>
        <p:nvSpPr>
          <p:cNvPr id="4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6CAAF910-0C16-4438-863F-9FA0654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BD39A-B78C-467F-9FF2-9EB89E2B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1219200" y="2476500"/>
          <a:ext xmlns:a="http://schemas.openxmlformats.org/drawingml/2006/main" cx="8001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279b33d19b4d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D246E-69D1-475A-8B85-3D724A99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43488-F14F-4FA1-B2C2-6E38E8B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90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特征组合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2949-C1BA-4B7D-A6A9-A33A0528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590800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特征数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8E56B-1F31-4F3D-986F-85013EE3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76500"/>
            <a:ext cx="9525" cy="29527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6AA01-4142-4B11-85B0-8319A50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5908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0A2BB-4BDC-4DDF-BC57-6A66FE57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476500"/>
            <a:ext cx="9525" cy="29527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43D931-D0A6-4415-BEA8-37ED29FF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259080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E7C7B"/>
                </a:solidFill>
              </a:defRPr>
            </a:pPr>
            <a:r>
              <a:t>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1A76-4463-4E00-87C8-87C3226F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2476500"/>
            <a:ext cx="9525" cy="295275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A8110-F2E6-42DC-A01A-774D50C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670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F6EA7-EA7C-4A84-86D2-FC4CC310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718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仅流感历史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8780F-9E60-4C9B-9DED-5858A709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17182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44C91-B2D9-413F-9854-15C67EB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1718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0.761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6A034-617A-411F-BC8D-845F941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31718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0.552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F6D5C-8CFB-489E-9A94-25567502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E7239-36B4-49AA-BD80-631893C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623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流感+气象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10FF6-57E7-48CF-9E83-C2F25EEE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76237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F0519-34DC-4A50-99AA-3BC659D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623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0.767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3B508-4AB6-42C6-9F14-8B7259A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37623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0.544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B7867-04C9-4E04-96ED-8135A639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4815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F872E-D414-4DE7-B923-0889EB1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5292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三源融合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8F297-2CCA-4743-8475-6A0C7496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35292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29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98EC1-792F-404D-8F72-4FCF52B6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3529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0.770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7F65E3-E5CD-4A35-99C7-B6C719D6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3529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0.540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75BB4A-23B8-4788-AF7E-FEB93181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38700"/>
            <a:ext cx="609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2E005-D17A-4946-AAD6-385B3A3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43475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</a:defRPr>
            </a:pPr>
            <a:r>
              <a:t>流感+搜索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4E8326-A959-4B77-8F16-7D64EFC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943475"/>
            <a:ext cx="91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06A25-BF63-496E-A745-9A479644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9434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0.788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C2E2B2-8E70-48D1-8FC2-1BB9D75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9434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t>0.519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91C62-A056-4BB1-A065-491943B6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5015F0-8054-44D5-8222-58CB347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191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实验发现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3A086-4194-4AF9-9B02-B283196B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6103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仅流感历史 RMSE 最低，流感+气象与三源融合非常接近。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58008F-AD43-48C6-9516-B55854D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6200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615FB0-3D29-4CDA-8507-27CDBF94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52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答辩表述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10D12D-69C0-4916-A42F-D56DE4E2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9438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不能简单说“搜索指数一定提升性能”；更稳妥的结论是外生变量提供辅助解释，但受代表城市聚合口径影响。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50611-2BEF-477A-88A9-436A7CD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B7E4ADC-00B5-49F1-9C96-ED766DB1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资料来源：ablation_report.md、ablation_metrics.csv、论文第4.4节。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6BBC04-925E-420F-8347-C6C6FD3E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9473955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6B752D9-6B37-4B68-8F23-DCA7F78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972D329-C040-44AB-9688-F86FEB29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Web 展示与工程复现</a:t>
            </a:r>
          </a:p>
        </p:txBody>
      </p:sp>
      <p:sp>
        <p:nvSpPr>
          <p:cNvPr id="3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6E321B2A-3059-4F61-A407-3806F8E1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答辩演示可从结果文件直接读取，不依赖临时手工整理</a:t>
            </a:r>
          </a:p>
        </p:txBody>
      </p:sp>
      <p:sp>
        <p:nvSpPr>
          <p:cNvPr id="4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BD7FD8D7-55E0-4DA8-B948-5E2C08D4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6885-2891-4FB9-9BF2-FF050F1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26462a17d461a"/>
          <a:stretch xmlns:a="http://schemas.openxmlformats.org/drawingml/2006/main"/>
        </p:blipFill>
        <p:spPr>
          <a:xfrm xmlns:a="http://schemas.openxmlformats.org/drawingml/2006/main">
            <a:off x="1123950" y="2154767"/>
            <a:ext cx="9239250" cy="39010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FFB75-31AB-40F0-B2FB-3439A7E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81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A5D60"/>
                </a:solidFill>
              </a:defRPr>
            </a:pPr>
            <a:r>
              <a:t>Streamlit 原型功能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15DB8-D2FC-4D27-A899-CE1250D0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004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899C5-1698-44FD-96E1-B607D1C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1051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数据总览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C3AAD-175C-4BB2-A500-03DA1F0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242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多源时序、样本数量、时间范围、相关性矩阵。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9E0DD-1529-409B-8BD3-01EDF07D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4196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BE120-82E2-43A0-8D2B-9420E158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3243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预测分析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C9B33-6A92-48B5-B4F2-80634FCD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434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训练曲线、预测曲线、误差分布、注意力热力图。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E93FE-F8C2-4A5F-94A3-DBA3024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388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94A4D-F7CE-483E-AFBF-347BFC4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5435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对比实验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28CBC-C5F8-4998-B663-E65CE38E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96265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多模型指标、消融实验与预警调度演示。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6C24C-9AFE-4E5D-8EBD-F48DE826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705600"/>
            <a:ext cx="866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22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C8602-E83E-4BAD-807C-2FEF5FC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6972300"/>
            <a:ext cx="790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FF7EF"/>
                </a:solidFill>
              </a:defRPr>
            </a:pPr>
            <a:r>
              <a:t>python scripts/train.py --skip-collect</a:t>
            </a:r>
          </a:p>
          <a:p xmlns:a="http://schemas.openxmlformats.org/drawingml/2006/main">
            <a:pPr algn="l">
              <a:defRPr sz="1650" b="0" i="0">
                <a:solidFill>
                  <a:srgbClr val="DFF7EF"/>
                </a:solidFill>
              </a:defRPr>
            </a:pPr>
            <a:r>
              <a:t>python scripts/run_ablation.py --skip-collect</a:t>
            </a:r>
          </a:p>
          <a:p xmlns:a="http://schemas.openxmlformats.org/drawingml/2006/main">
            <a:pPr algn="l">
              <a:defRPr sz="1650" b="0" i="0">
                <a:solidFill>
                  <a:srgbClr val="DFF7EF"/>
                </a:solidFill>
              </a:defRPr>
            </a:pPr>
            <a:r>
              <a:t>streamlit run web/app.py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6D9C2-79BF-4CDA-A175-F73C20EC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7539C81-47BA-4B6E-9E5A-22F051F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资料来源：README、web/app.py、scripts/train.py、scripts/run_ablation.py。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827D9-3EE4-4D32-9F48-25473B4B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5128058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01C42F7-8BA6-41D0-A4C4-E0A8FD0D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CFAF14C-DAF6-4134-AB15-6AFE202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"/>
            <a:ext cx="1257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t>结论与展望</a:t>
            </a:r>
          </a:p>
        </p:txBody>
      </p:sp>
      <p:sp>
        <p:nvSpPr>
          <p:cNvPr id="3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1DC043ED-EAE2-4992-BE74-B5079B9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1257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完成了真实数据、多源融合、深度模型和可视化系统的闭环</a:t>
            </a:r>
          </a:p>
        </p:txBody>
      </p:sp>
      <p:sp>
        <p:nvSpPr>
          <p:cNvPr id="4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D90713BD-22EE-420E-AAE3-2B17DC2B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0960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0E7C7B"/>
                </a:solidFill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E724A-C71D-4AB4-8D1F-EBC8B16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11430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3C9E3-E16A-48D6-83C8-6F94D5FD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A5D60"/>
                </a:solidFill>
              </a:defRPr>
            </a:pPr>
            <a:r>
              <a:t>主要结论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39C38-085C-4E55-82A0-FF4BA00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D13A6-9C17-46DB-B4D9-F6059D3C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数据可信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56E31-C022-4B05-BED4-02886845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正式实验切换为国家流感中心北方省份周度 ILI%，并保留缺失补齐和来源审计。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C00CC-0E76-4C66-9A3B-6A32E55D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332FF-1A26-4BA3-9715-A684852D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38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模型有效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2B930-D50E-4976-96D7-24FEF23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iTransformer 在测试集上 RMSE=0.772、MAE=0.491、MAPE=11.51%、R²=0.538。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2B085-EDA8-4702-AA7B-42E6F14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245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DFC2B-F051-4119-84CE-FB1995AF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工程完整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5FE4A-9CCD-4428-B978-3BEBEE72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484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项目覆盖采集、预处理、特征工程、训练评估、消融实验和 Web 展示。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D7435-DACF-46C9-A9F1-EABF694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050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85D4A"/>
                </a:solidFill>
              </a:defRPr>
            </a:pPr>
            <a:r>
              <a:t>不足与展望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095CC-B57E-41E8-AB97-BDB7E836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432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DF7A1-1BA3-4EC5-BEC1-66EDD7E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480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区域聚合仍可细化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AEDD5-A247-458C-8CC3-4C4D3CEC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百度指数和气象采用代表城市简单聚合，后续可引入人口权重或省级分层。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D3C0D-5DAD-4F52-AF01-4A308F1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339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5469F-DB94-4091-9FB5-39CC2ACA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386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峰值预测仍需增强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35F2D-3676-4BBC-AEE7-A3ABB52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577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高发期误差更明显，可尝试高峰样本加权、分季节训练和概率预测。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95EBB-ECB2-400E-BD7E-4D3FE76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9245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08672-B972-4B81-9BA9-BBABD2D9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29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827"/>
                </a:solidFill>
              </a:defRPr>
            </a:pPr>
            <a:r>
              <a:t>解释性不等于因果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BC354-A5AE-45F2-BAFD-9C5C35BB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2484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t>注意力热力图只能辅助理解信息流，不能直接作为流感传播因果结论。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96F1A-7F4A-4EDD-A348-124257D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3248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111827"/>
                </a:solidFill>
              </a:defRPr>
            </a:pPr>
            <a:r>
              <a:t>谢谢各位老师，请批评指正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4E049-20EC-48DA-9DB3-0184474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39300"/>
            <a:ext cx="164592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9923FD04-3584-4FD8-AD5D-4DF05F4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428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493"/>
                </a:solidFill>
              </a:defRPr>
            </a:pPr>
            <a:r>
              <a:t>资料来源：毕业论文第6-7章、experiment_brief.md、ablation_report.md。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ED6867-6AA6-44CD-8619-BD98DE7B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75360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B8493"/>
                </a:solidFill>
              </a:defRPr>
            </a:pPr>
            <a:r>
              <a:t>中国海洋大学 · 计算机科学与技术本科毕业设计</a:t>
            </a:r>
          </a:p>
        </p:txBody>
      </p:sp>
    </p:spTree>
    <p:extLst>
      <p:ext uri="{BB962C8B-B14F-4D97-AF65-F5344CB8AC3E}">
        <p14:creationId xmlns:p14="http://schemas.microsoft.com/office/powerpoint/2010/main" val="1951478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2026-04-26T08:59:41.1380000Z</dcterms:created>
  <dcterms:modified xsi:type="dcterms:W3CDTF">2026-04-26T08:59:41.1380000Z</dcterms:modified>
</coreProperties>
</file>